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78" r:id="rId5"/>
    <p:sldId id="279" r:id="rId6"/>
    <p:sldId id="259" r:id="rId7"/>
    <p:sldId id="280" r:id="rId8"/>
    <p:sldId id="281" r:id="rId9"/>
    <p:sldId id="282" r:id="rId10"/>
    <p:sldId id="260" r:id="rId11"/>
    <p:sldId id="277" r:id="rId12"/>
    <p:sldId id="283" r:id="rId13"/>
    <p:sldId id="274" r:id="rId14"/>
    <p:sldId id="275" r:id="rId15"/>
    <p:sldId id="284" r:id="rId16"/>
    <p:sldId id="276" r:id="rId17"/>
    <p:sldId id="273" r:id="rId18"/>
    <p:sldId id="262" r:id="rId19"/>
    <p:sldId id="285" r:id="rId20"/>
    <p:sldId id="286" r:id="rId21"/>
    <p:sldId id="269" r:id="rId22"/>
  </p:sldIdLst>
  <p:sldSz cx="9144000" cy="5143500" type="screen16x9"/>
  <p:notesSz cx="6858000" cy="9144000"/>
  <p:embeddedFontLst>
    <p:embeddedFont>
      <p:font typeface="Cambria Math" panose="02040503050406030204" pitchFamily="18" charset="0"/>
      <p:regular r:id="rId24"/>
    </p:embeddedFont>
    <p:embeddedFont>
      <p:font typeface="Roboto"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1C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D24A03-3092-4579-8DE0-CCE6BD6100CB}">
  <a:tblStyle styleId="{5CD24A03-3092-4579-8DE0-CCE6BD6100C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968732C-825C-4DA1-866C-FBEB8E857006}"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05" autoAdjust="0"/>
  </p:normalViewPr>
  <p:slideViewPr>
    <p:cSldViewPr snapToGrid="0">
      <p:cViewPr varScale="1">
        <p:scale>
          <a:sx n="106" d="100"/>
          <a:sy n="106" d="100"/>
        </p:scale>
        <p:origin x="778"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2c7c9a0990c_0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2c7c9a0990c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c7d8e82bc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c7d8e82bc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c819a85aab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c819a85aab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e44acd1e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e44acd1e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27562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13418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e44acd1eb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e44acd1eb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44acd1ebc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e44acd1eb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c819a85aab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c819a85aab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51C75"/>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95858" y="234400"/>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195850" y="2633350"/>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71679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268475" y="11322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351C7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a:off x="126350" y="139050"/>
            <a:ext cx="8894700" cy="4865400"/>
          </a:xfrm>
          <a:prstGeom prst="rect">
            <a:avLst/>
          </a:prstGeom>
          <a:solidFill>
            <a:schemeClr val="lt1"/>
          </a:solidFill>
          <a:ln w="9525" cap="flat" cmpd="sng">
            <a:solidFill>
              <a:srgbClr val="F3F0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pic>
        <p:nvPicPr>
          <p:cNvPr id="10" name="Google Shape;10;p1"/>
          <p:cNvPicPr preferRelativeResize="0"/>
          <p:nvPr/>
        </p:nvPicPr>
        <p:blipFill>
          <a:blip r:embed="rId13">
            <a:alphaModFix/>
          </a:blip>
          <a:stretch>
            <a:fillRect/>
          </a:stretch>
        </p:blipFill>
        <p:spPr>
          <a:xfrm>
            <a:off x="8007600" y="139050"/>
            <a:ext cx="1013450" cy="1013425"/>
          </a:xfrm>
          <a:prstGeom prst="rect">
            <a:avLst/>
          </a:prstGeom>
          <a:noFill/>
          <a:ln w="9525" cap="flat" cmpd="sng">
            <a:solidFill>
              <a:srgbClr val="F3F0FF"/>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07/s11042-024-18421-7" TargetMode="External"/><Relationship Id="rId2" Type="http://schemas.openxmlformats.org/officeDocument/2006/relationships/hyperlink" Target="https://doi.org/10.1007/s11042-%20023-17066-2"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45/2733373.2806390" TargetMode="External"/><Relationship Id="rId2" Type="http://schemas.openxmlformats.org/officeDocument/2006/relationships/hyperlink" Target="https://huggingface.co/MIT/ast-finetuned-audioset-10-10-0.4593" TargetMode="External"/><Relationship Id="rId1" Type="http://schemas.openxmlformats.org/officeDocument/2006/relationships/slideLayout" Target="../slideLayouts/slideLayout3.xml"/><Relationship Id="rId4" Type="http://schemas.openxmlformats.org/officeDocument/2006/relationships/hyperlink" Target="https://doi.org/10.1145/2647868.2655045"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1C75"/>
        </a:solidFill>
        <a:effectLst/>
      </p:bgPr>
    </p:bg>
    <p:spTree>
      <p:nvGrpSpPr>
        <p:cNvPr id="1" name="Shape 55"/>
        <p:cNvGrpSpPr/>
        <p:nvPr/>
      </p:nvGrpSpPr>
      <p:grpSpPr>
        <a:xfrm>
          <a:off x="0" y="0"/>
          <a:ext cx="0" cy="0"/>
          <a:chOff x="0" y="0"/>
          <a:chExt cx="0" cy="0"/>
        </a:xfrm>
      </p:grpSpPr>
      <p:graphicFrame>
        <p:nvGraphicFramePr>
          <p:cNvPr id="57" name="Google Shape;57;p13"/>
          <p:cNvGraphicFramePr/>
          <p:nvPr>
            <p:extLst>
              <p:ext uri="{D42A27DB-BD31-4B8C-83A1-F6EECF244321}">
                <p14:modId xmlns:p14="http://schemas.microsoft.com/office/powerpoint/2010/main" val="1488724469"/>
              </p:ext>
            </p:extLst>
          </p:nvPr>
        </p:nvGraphicFramePr>
        <p:xfrm>
          <a:off x="965675" y="3494525"/>
          <a:ext cx="7297700" cy="1252070"/>
        </p:xfrm>
        <a:graphic>
          <a:graphicData uri="http://schemas.openxmlformats.org/drawingml/2006/table">
            <a:tbl>
              <a:tblPr>
                <a:noFill/>
                <a:tableStyleId>{5CD24A03-3092-4579-8DE0-CCE6BD6100CB}</a:tableStyleId>
              </a:tblPr>
              <a:tblGrid>
                <a:gridCol w="3597375">
                  <a:extLst>
                    <a:ext uri="{9D8B030D-6E8A-4147-A177-3AD203B41FA5}">
                      <a16:colId xmlns:a16="http://schemas.microsoft.com/office/drawing/2014/main" val="20000"/>
                    </a:ext>
                  </a:extLst>
                </a:gridCol>
                <a:gridCol w="3700325">
                  <a:extLst>
                    <a:ext uri="{9D8B030D-6E8A-4147-A177-3AD203B41FA5}">
                      <a16:colId xmlns:a16="http://schemas.microsoft.com/office/drawing/2014/main" val="20001"/>
                    </a:ext>
                  </a:extLst>
                </a:gridCol>
              </a:tblGrid>
              <a:tr h="459650">
                <a:tc>
                  <a:txBody>
                    <a:bodyPr/>
                    <a:lstStyle/>
                    <a:p>
                      <a:pPr marL="0" lvl="0" indent="0" algn="l" rtl="0">
                        <a:spcBef>
                          <a:spcPts val="0"/>
                        </a:spcBef>
                        <a:spcAft>
                          <a:spcPts val="0"/>
                        </a:spcAft>
                        <a:buClr>
                          <a:schemeClr val="dk1"/>
                        </a:buClr>
                        <a:buSzPts val="1100"/>
                        <a:buFont typeface="Arial"/>
                        <a:buNone/>
                      </a:pPr>
                      <a:r>
                        <a:rPr lang="en">
                          <a:solidFill>
                            <a:schemeClr val="tx1"/>
                          </a:solidFill>
                        </a:rPr>
                        <a:t>D Mohith Chowdary</a:t>
                      </a:r>
                      <a:endParaRPr>
                        <a:solidFill>
                          <a:schemeClr val="tx1"/>
                        </a:solidFill>
                      </a:endParaRPr>
                    </a:p>
                  </a:txBody>
                  <a:tcPr marL="91425" marR="91425" marT="91425" marB="91425">
                    <a:lnL w="19050" cap="flat" cmpd="sng">
                      <a:solidFill>
                        <a:srgbClr val="20124D"/>
                      </a:solidFill>
                      <a:prstDash val="solid"/>
                      <a:round/>
                      <a:headEnd type="none" w="sm" len="sm"/>
                      <a:tailEnd type="none" w="sm" len="sm"/>
                    </a:lnL>
                    <a:lnR w="19050" cap="flat" cmpd="sng">
                      <a:solidFill>
                        <a:srgbClr val="20124D"/>
                      </a:solidFill>
                      <a:prstDash val="solid"/>
                      <a:round/>
                      <a:headEnd type="none" w="sm" len="sm"/>
                      <a:tailEnd type="none" w="sm" len="sm"/>
                    </a:lnR>
                    <a:lnT w="19050" cap="flat" cmpd="sng">
                      <a:solidFill>
                        <a:srgbClr val="20124D"/>
                      </a:solidFill>
                      <a:prstDash val="solid"/>
                      <a:round/>
                      <a:headEnd type="none" w="sm" len="sm"/>
                      <a:tailEnd type="none" w="sm" len="sm"/>
                    </a:lnT>
                    <a:lnB w="19050" cap="flat" cmpd="sng">
                      <a:solidFill>
                        <a:srgbClr val="20124D"/>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tx1"/>
                          </a:solidFill>
                        </a:rPr>
                        <a:t>21951A04A4</a:t>
                      </a:r>
                      <a:endParaRPr>
                        <a:solidFill>
                          <a:schemeClr val="tx1"/>
                        </a:solidFill>
                      </a:endParaRPr>
                    </a:p>
                  </a:txBody>
                  <a:tcPr marL="91425" marR="91425" marT="91425" marB="91425">
                    <a:lnL w="19050" cap="flat" cmpd="sng">
                      <a:solidFill>
                        <a:srgbClr val="20124D"/>
                      </a:solidFill>
                      <a:prstDash val="solid"/>
                      <a:round/>
                      <a:headEnd type="none" w="sm" len="sm"/>
                      <a:tailEnd type="none" w="sm" len="sm"/>
                    </a:lnL>
                    <a:lnR w="19050" cap="flat" cmpd="sng">
                      <a:solidFill>
                        <a:srgbClr val="20124D"/>
                      </a:solidFill>
                      <a:prstDash val="solid"/>
                      <a:round/>
                      <a:headEnd type="none" w="sm" len="sm"/>
                      <a:tailEnd type="none" w="sm" len="sm"/>
                    </a:lnR>
                    <a:lnT w="19050" cap="flat" cmpd="sng">
                      <a:solidFill>
                        <a:srgbClr val="20124D"/>
                      </a:solidFill>
                      <a:prstDash val="solid"/>
                      <a:round/>
                      <a:headEnd type="none" w="sm" len="sm"/>
                      <a:tailEnd type="none" w="sm" len="sm"/>
                    </a:lnT>
                    <a:lnB w="19050" cap="flat" cmpd="sng">
                      <a:solidFill>
                        <a:srgbClr val="20124D"/>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dirty="0">
                          <a:solidFill>
                            <a:schemeClr val="tx1"/>
                          </a:solidFill>
                        </a:rPr>
                        <a:t>R Srinivas </a:t>
                      </a:r>
                      <a:endParaRPr dirty="0">
                        <a:solidFill>
                          <a:schemeClr val="tx1"/>
                        </a:solidFill>
                      </a:endParaRPr>
                    </a:p>
                  </a:txBody>
                  <a:tcPr marL="91425" marR="91425" marT="91425" marB="91425">
                    <a:lnL w="19050" cap="flat" cmpd="sng">
                      <a:solidFill>
                        <a:srgbClr val="20124D"/>
                      </a:solidFill>
                      <a:prstDash val="solid"/>
                      <a:round/>
                      <a:headEnd type="none" w="sm" len="sm"/>
                      <a:tailEnd type="none" w="sm" len="sm"/>
                    </a:lnL>
                    <a:lnR w="19050" cap="flat" cmpd="sng">
                      <a:solidFill>
                        <a:srgbClr val="20124D"/>
                      </a:solidFill>
                      <a:prstDash val="solid"/>
                      <a:round/>
                      <a:headEnd type="none" w="sm" len="sm"/>
                      <a:tailEnd type="none" w="sm" len="sm"/>
                    </a:lnR>
                    <a:lnT w="19050" cap="flat" cmpd="sng">
                      <a:solidFill>
                        <a:srgbClr val="20124D"/>
                      </a:solidFill>
                      <a:prstDash val="solid"/>
                      <a:round/>
                      <a:headEnd type="none" w="sm" len="sm"/>
                      <a:tailEnd type="none" w="sm" len="sm"/>
                    </a:lnT>
                    <a:lnB w="19050" cap="flat" cmpd="sng">
                      <a:solidFill>
                        <a:srgbClr val="20124D"/>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a:solidFill>
                            <a:schemeClr val="tx1"/>
                          </a:solidFill>
                        </a:rPr>
                        <a:t>21951A04L6</a:t>
                      </a:r>
                      <a:endParaRPr>
                        <a:solidFill>
                          <a:schemeClr val="tx1"/>
                        </a:solidFill>
                      </a:endParaRPr>
                    </a:p>
                  </a:txBody>
                  <a:tcPr marL="91425" marR="91425" marT="91425" marB="91425">
                    <a:lnL w="19050" cap="flat" cmpd="sng">
                      <a:solidFill>
                        <a:srgbClr val="20124D"/>
                      </a:solidFill>
                      <a:prstDash val="solid"/>
                      <a:round/>
                      <a:headEnd type="none" w="sm" len="sm"/>
                      <a:tailEnd type="none" w="sm" len="sm"/>
                    </a:lnL>
                    <a:lnR w="19050" cap="flat" cmpd="sng">
                      <a:solidFill>
                        <a:srgbClr val="20124D"/>
                      </a:solidFill>
                      <a:prstDash val="solid"/>
                      <a:round/>
                      <a:headEnd type="none" w="sm" len="sm"/>
                      <a:tailEnd type="none" w="sm" len="sm"/>
                    </a:lnR>
                    <a:lnT w="19050" cap="flat" cmpd="sng">
                      <a:solidFill>
                        <a:srgbClr val="20124D"/>
                      </a:solidFill>
                      <a:prstDash val="solid"/>
                      <a:round/>
                      <a:headEnd type="none" w="sm" len="sm"/>
                      <a:tailEnd type="none" w="sm" len="sm"/>
                    </a:lnT>
                    <a:lnB w="19050" cap="flat" cmpd="sng">
                      <a:solidFill>
                        <a:srgbClr val="20124D"/>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Clr>
                          <a:schemeClr val="dk1"/>
                        </a:buClr>
                        <a:buSzPts val="1100"/>
                        <a:buFont typeface="Arial"/>
                        <a:buNone/>
                      </a:pPr>
                      <a:r>
                        <a:rPr lang="en">
                          <a:solidFill>
                            <a:schemeClr val="tx1"/>
                          </a:solidFill>
                        </a:rPr>
                        <a:t>MD Ossama Rahmani </a:t>
                      </a:r>
                      <a:endParaRPr>
                        <a:solidFill>
                          <a:schemeClr val="tx1"/>
                        </a:solidFill>
                      </a:endParaRPr>
                    </a:p>
                  </a:txBody>
                  <a:tcPr marL="91425" marR="91425" marT="91425" marB="91425">
                    <a:lnL w="19050" cap="flat" cmpd="sng">
                      <a:solidFill>
                        <a:srgbClr val="20124D"/>
                      </a:solidFill>
                      <a:prstDash val="solid"/>
                      <a:round/>
                      <a:headEnd type="none" w="sm" len="sm"/>
                      <a:tailEnd type="none" w="sm" len="sm"/>
                    </a:lnL>
                    <a:lnR w="19050" cap="flat" cmpd="sng">
                      <a:solidFill>
                        <a:srgbClr val="20124D"/>
                      </a:solidFill>
                      <a:prstDash val="solid"/>
                      <a:round/>
                      <a:headEnd type="none" w="sm" len="sm"/>
                      <a:tailEnd type="none" w="sm" len="sm"/>
                    </a:lnR>
                    <a:lnT w="19050" cap="flat" cmpd="sng">
                      <a:solidFill>
                        <a:srgbClr val="20124D"/>
                      </a:solidFill>
                      <a:prstDash val="solid"/>
                      <a:round/>
                      <a:headEnd type="none" w="sm" len="sm"/>
                      <a:tailEnd type="none" w="sm" len="sm"/>
                    </a:lnT>
                    <a:lnB w="19050" cap="flat" cmpd="sng">
                      <a:solidFill>
                        <a:srgbClr val="20124D"/>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dirty="0">
                          <a:solidFill>
                            <a:schemeClr val="tx1"/>
                          </a:solidFill>
                        </a:rPr>
                        <a:t>22955A0412</a:t>
                      </a:r>
                      <a:endParaRPr dirty="0">
                        <a:solidFill>
                          <a:schemeClr val="tx1"/>
                        </a:solidFill>
                      </a:endParaRPr>
                    </a:p>
                  </a:txBody>
                  <a:tcPr marL="91425" marR="91425" marT="91425" marB="91425">
                    <a:lnL w="19050" cap="flat" cmpd="sng">
                      <a:solidFill>
                        <a:srgbClr val="20124D"/>
                      </a:solidFill>
                      <a:prstDash val="solid"/>
                      <a:round/>
                      <a:headEnd type="none" w="sm" len="sm"/>
                      <a:tailEnd type="none" w="sm" len="sm"/>
                    </a:lnL>
                    <a:lnR w="19050" cap="flat" cmpd="sng">
                      <a:solidFill>
                        <a:srgbClr val="20124D"/>
                      </a:solidFill>
                      <a:prstDash val="solid"/>
                      <a:round/>
                      <a:headEnd type="none" w="sm" len="sm"/>
                      <a:tailEnd type="none" w="sm" len="sm"/>
                    </a:lnR>
                    <a:lnT w="19050" cap="flat" cmpd="sng">
                      <a:solidFill>
                        <a:srgbClr val="20124D"/>
                      </a:solidFill>
                      <a:prstDash val="solid"/>
                      <a:round/>
                      <a:headEnd type="none" w="sm" len="sm"/>
                      <a:tailEnd type="none" w="sm" len="sm"/>
                    </a:lnT>
                    <a:lnB w="19050" cap="flat" cmpd="sng">
                      <a:solidFill>
                        <a:srgbClr val="20124D"/>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59" name="Google Shape;59;p13"/>
          <p:cNvSpPr txBox="1"/>
          <p:nvPr/>
        </p:nvSpPr>
        <p:spPr>
          <a:xfrm>
            <a:off x="965675" y="3022625"/>
            <a:ext cx="2705400" cy="47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tx1"/>
                </a:solidFill>
              </a:rPr>
              <a:t>Team :</a:t>
            </a:r>
            <a:endParaRPr sz="1800" b="1" dirty="0">
              <a:solidFill>
                <a:schemeClr val="tx1"/>
              </a:solidFill>
            </a:endParaRPr>
          </a:p>
        </p:txBody>
      </p:sp>
      <p:sp>
        <p:nvSpPr>
          <p:cNvPr id="60" name="Google Shape;60;p13"/>
          <p:cNvSpPr txBox="1"/>
          <p:nvPr/>
        </p:nvSpPr>
        <p:spPr>
          <a:xfrm>
            <a:off x="965675" y="2359400"/>
            <a:ext cx="6683400" cy="58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chemeClr val="tx1"/>
                </a:solidFill>
              </a:rPr>
              <a:t>Mentor :</a:t>
            </a:r>
            <a:r>
              <a:rPr lang="en" sz="2000" dirty="0">
                <a:solidFill>
                  <a:schemeClr val="tx1"/>
                </a:solidFill>
              </a:rPr>
              <a:t> Dr. B. Surekha Reddy (Assistant Professor)</a:t>
            </a:r>
            <a:endParaRPr sz="1900" dirty="0">
              <a:solidFill>
                <a:schemeClr val="tx1"/>
              </a:solidFill>
            </a:endParaRPr>
          </a:p>
        </p:txBody>
      </p:sp>
      <p:sp>
        <p:nvSpPr>
          <p:cNvPr id="4" name="Rectangle 3">
            <a:extLst>
              <a:ext uri="{FF2B5EF4-FFF2-40B4-BE49-F238E27FC236}">
                <a16:creationId xmlns:a16="http://schemas.microsoft.com/office/drawing/2014/main" id="{F40C6550-746A-9A08-0887-AC548190AA43}"/>
              </a:ext>
            </a:extLst>
          </p:cNvPr>
          <p:cNvSpPr>
            <a:spLocks noChangeArrowheads="1"/>
          </p:cNvSpPr>
          <p:nvPr/>
        </p:nvSpPr>
        <p:spPr bwMode="auto">
          <a:xfrm>
            <a:off x="747886" y="662988"/>
            <a:ext cx="710848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chemeClr val="tx1"/>
                </a:solidFill>
                <a:latin typeface="Roboto" panose="02000000000000000000" pitchFamily="2" charset="0"/>
                <a:ea typeface="Roboto" panose="02000000000000000000" pitchFamily="2" charset="0"/>
                <a:cs typeface="Roboto" panose="02000000000000000000" pitchFamily="2" charset="0"/>
              </a:rPr>
              <a:t>C</a:t>
            </a:r>
            <a:r>
              <a:rPr kumimoji="0" lang="en-US" altLang="en-US" sz="24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lassification of </a:t>
            </a:r>
            <a:r>
              <a:rPr lang="en-US" altLang="en-US" sz="2400" dirty="0">
                <a:solidFill>
                  <a:schemeClr val="tx1"/>
                </a:solidFill>
                <a:latin typeface="Roboto" panose="02000000000000000000" pitchFamily="2" charset="0"/>
                <a:ea typeface="Roboto" panose="02000000000000000000" pitchFamily="2" charset="0"/>
                <a:cs typeface="Roboto" panose="02000000000000000000" pitchFamily="2" charset="0"/>
              </a:rPr>
              <a:t>E</a:t>
            </a:r>
            <a:r>
              <a:rPr kumimoji="0" lang="en-US" altLang="en-US" sz="24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nvironmental and Urban </a:t>
            </a:r>
            <a:r>
              <a:rPr lang="en-US" altLang="en-US" sz="2400" dirty="0">
                <a:solidFill>
                  <a:schemeClr val="tx1"/>
                </a:solidFill>
                <a:latin typeface="Roboto" panose="02000000000000000000" pitchFamily="2" charset="0"/>
                <a:ea typeface="Roboto" panose="02000000000000000000" pitchFamily="2" charset="0"/>
                <a:cs typeface="Roboto" panose="02000000000000000000" pitchFamily="2" charset="0"/>
              </a:rPr>
              <a:t>S</a:t>
            </a:r>
            <a:r>
              <a:rPr kumimoji="0" lang="en-US" altLang="en-US" sz="24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ounds through Deep </a:t>
            </a:r>
            <a:r>
              <a:rPr lang="en-US" altLang="en-US" sz="2400" dirty="0">
                <a:solidFill>
                  <a:schemeClr val="tx1"/>
                </a:solidFill>
                <a:latin typeface="Roboto" panose="02000000000000000000" pitchFamily="2" charset="0"/>
                <a:ea typeface="Roboto" panose="02000000000000000000" pitchFamily="2" charset="0"/>
                <a:cs typeface="Roboto" panose="02000000000000000000" pitchFamily="2" charset="0"/>
              </a:rPr>
              <a:t>L</a:t>
            </a:r>
            <a:r>
              <a:rPr kumimoji="0" lang="en-US" altLang="en-US" sz="24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earning </a:t>
            </a:r>
            <a:r>
              <a:rPr lang="en-US" altLang="en-US" sz="2400" dirty="0">
                <a:solidFill>
                  <a:schemeClr val="tx1"/>
                </a:solidFill>
                <a:latin typeface="Roboto" panose="02000000000000000000" pitchFamily="2" charset="0"/>
                <a:ea typeface="Roboto" panose="02000000000000000000" pitchFamily="2" charset="0"/>
                <a:cs typeface="Roboto" panose="02000000000000000000" pitchFamily="2" charset="0"/>
              </a:rPr>
              <a:t>T</a:t>
            </a:r>
            <a:r>
              <a:rPr kumimoji="0" lang="en-US" altLang="en-US" sz="24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echniques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7167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tx1"/>
                </a:solidFill>
              </a:rPr>
              <a:t>ABSTRACT</a:t>
            </a:r>
            <a:endParaRPr b="1" dirty="0">
              <a:solidFill>
                <a:schemeClr val="tx1"/>
              </a:solidFill>
            </a:endParaRPr>
          </a:p>
        </p:txBody>
      </p:sp>
      <p:sp>
        <p:nvSpPr>
          <p:cNvPr id="2" name="Text Placeholder 1">
            <a:extLst>
              <a:ext uri="{FF2B5EF4-FFF2-40B4-BE49-F238E27FC236}">
                <a16:creationId xmlns:a16="http://schemas.microsoft.com/office/drawing/2014/main" id="{B808C09D-7BBE-94D7-927A-EA0F5D2974B1}"/>
              </a:ext>
            </a:extLst>
          </p:cNvPr>
          <p:cNvSpPr>
            <a:spLocks noGrp="1" noChangeArrowheads="1"/>
          </p:cNvSpPr>
          <p:nvPr>
            <p:ph type="body" idx="1"/>
          </p:nvPr>
        </p:nvSpPr>
        <p:spPr bwMode="auto">
          <a:xfrm>
            <a:off x="311700" y="1240863"/>
            <a:ext cx="8057859"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kumimoji="0" lang="en-US" altLang="en-US" sz="1500" b="0" i="0" u="none" strike="noStrike" cap="none" normalizeH="0" baseline="0" dirty="0">
                <a:ln>
                  <a:noFill/>
                </a:ln>
                <a:solidFill>
                  <a:schemeClr val="tx1"/>
                </a:solidFill>
                <a:effectLst/>
                <a:latin typeface="Arial" panose="020B0604020202020204" pitchFamily="34" charset="0"/>
              </a:rPr>
              <a:t>Environmental sound classification (ESC) is a critical aspect of developing intelligent auditory systems for applications such as smart cities, surveillance, and multimedia analysis.</a:t>
            </a:r>
          </a:p>
          <a:p>
            <a:pPr marL="0" indent="0" eaLnBrk="0" fontAlgn="base" hangingPunct="0">
              <a:lnSpc>
                <a:spcPct val="100000"/>
              </a:lnSpc>
              <a:spcBef>
                <a:spcPct val="0"/>
              </a:spcBef>
              <a:spcAft>
                <a:spcPct val="0"/>
              </a:spcAft>
              <a:buClrTx/>
              <a:buSzTx/>
              <a:buNone/>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lnSpc>
                <a:spcPct val="100000"/>
              </a:lnSpc>
              <a:spcBef>
                <a:spcPct val="0"/>
              </a:spcBef>
              <a:spcAft>
                <a:spcPct val="0"/>
              </a:spcAft>
              <a:buClrTx/>
              <a:buSzTx/>
            </a:pPr>
            <a:r>
              <a:rPr kumimoji="0" lang="en-US" altLang="en-US" sz="1500" b="0" i="0" u="none" strike="noStrike" cap="none" normalizeH="0" baseline="0" dirty="0">
                <a:ln>
                  <a:noFill/>
                </a:ln>
                <a:solidFill>
                  <a:schemeClr val="tx1"/>
                </a:solidFill>
                <a:effectLst/>
                <a:latin typeface="Arial" panose="020B0604020202020204" pitchFamily="34" charset="0"/>
              </a:rPr>
              <a:t>This project proposes a hybrid model that leverages both </a:t>
            </a:r>
            <a:r>
              <a:rPr kumimoji="0" lang="en-US" altLang="en-US" sz="1500" b="1" i="0" u="none" strike="noStrike" cap="none" normalizeH="0" baseline="0" dirty="0">
                <a:ln>
                  <a:noFill/>
                </a:ln>
                <a:solidFill>
                  <a:schemeClr val="tx1"/>
                </a:solidFill>
                <a:effectLst/>
                <a:latin typeface="Arial" panose="020B0604020202020204" pitchFamily="34" charset="0"/>
              </a:rPr>
              <a:t>Transformer</a:t>
            </a:r>
            <a:r>
              <a:rPr kumimoji="0" lang="en-US" altLang="en-US" sz="1500" b="0" i="0" u="none" strike="noStrike" cap="none" normalizeH="0" baseline="0" dirty="0">
                <a:ln>
                  <a:noFill/>
                </a:ln>
                <a:solidFill>
                  <a:schemeClr val="tx1"/>
                </a:solidFill>
                <a:effectLst/>
                <a:latin typeface="Arial" panose="020B0604020202020204" pitchFamily="34" charset="0"/>
              </a:rPr>
              <a:t> and </a:t>
            </a:r>
            <a:r>
              <a:rPr kumimoji="0" lang="en-US" altLang="en-US" sz="1500" b="1" i="0" u="none" strike="noStrike" cap="none" normalizeH="0" baseline="0" dirty="0">
                <a:ln>
                  <a:noFill/>
                </a:ln>
                <a:solidFill>
                  <a:schemeClr val="tx1"/>
                </a:solidFill>
                <a:effectLst/>
                <a:latin typeface="Arial" panose="020B0604020202020204" pitchFamily="34" charset="0"/>
              </a:rPr>
              <a:t>LSTM</a:t>
            </a:r>
            <a:r>
              <a:rPr kumimoji="0" lang="en-US" altLang="en-US" sz="1500" b="0" i="0" u="none" strike="noStrike" cap="none" normalizeH="0" baseline="0" dirty="0">
                <a:ln>
                  <a:noFill/>
                </a:ln>
                <a:solidFill>
                  <a:schemeClr val="tx1"/>
                </a:solidFill>
                <a:effectLst/>
                <a:latin typeface="Arial" panose="020B0604020202020204" pitchFamily="34" charset="0"/>
              </a:rPr>
              <a:t> (Long Short-Term Memory) networks to improve the accuracy of sound classification tasks.</a:t>
            </a:r>
          </a:p>
          <a:p>
            <a:pPr marL="0" indent="0" eaLnBrk="0" fontAlgn="base" hangingPunct="0">
              <a:lnSpc>
                <a:spcPct val="100000"/>
              </a:lnSpc>
              <a:spcBef>
                <a:spcPct val="0"/>
              </a:spcBef>
              <a:spcAft>
                <a:spcPct val="0"/>
              </a:spcAft>
              <a:buClrTx/>
              <a:buSzTx/>
              <a:buNone/>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lnSpc>
                <a:spcPct val="100000"/>
              </a:lnSpc>
              <a:spcBef>
                <a:spcPct val="0"/>
              </a:spcBef>
              <a:spcAft>
                <a:spcPct val="0"/>
              </a:spcAft>
              <a:buClrTx/>
              <a:buSzTx/>
            </a:pPr>
            <a:r>
              <a:rPr kumimoji="0" lang="en-US" altLang="en-US" sz="1500" b="0" i="0" u="none" strike="noStrike" cap="none" normalizeH="0" baseline="0" dirty="0">
                <a:ln>
                  <a:noFill/>
                </a:ln>
                <a:solidFill>
                  <a:schemeClr val="tx1"/>
                </a:solidFill>
                <a:effectLst/>
                <a:latin typeface="Arial" panose="020B0604020202020204" pitchFamily="34" charset="0"/>
              </a:rPr>
              <a:t>By combining the </a:t>
            </a:r>
            <a:r>
              <a:rPr kumimoji="0" lang="en-US" altLang="en-US" sz="1500" b="1" i="0" u="none" strike="noStrike" cap="none" normalizeH="0" baseline="0" dirty="0">
                <a:ln>
                  <a:noFill/>
                </a:ln>
                <a:solidFill>
                  <a:schemeClr val="tx1"/>
                </a:solidFill>
                <a:effectLst/>
                <a:latin typeface="Arial" panose="020B0604020202020204" pitchFamily="34" charset="0"/>
              </a:rPr>
              <a:t>self-attention mechanism</a:t>
            </a:r>
            <a:r>
              <a:rPr kumimoji="0" lang="en-US" altLang="en-US" sz="1500" b="0" i="0" u="none" strike="noStrike" cap="none" normalizeH="0" baseline="0" dirty="0">
                <a:ln>
                  <a:noFill/>
                </a:ln>
                <a:solidFill>
                  <a:schemeClr val="tx1"/>
                </a:solidFill>
                <a:effectLst/>
                <a:latin typeface="Arial" panose="020B0604020202020204" pitchFamily="34" charset="0"/>
              </a:rPr>
              <a:t> of Transformers with the </a:t>
            </a:r>
            <a:r>
              <a:rPr kumimoji="0" lang="en-US" altLang="en-US" sz="1500" b="1" i="0" u="none" strike="noStrike" cap="none" normalizeH="0" baseline="0" dirty="0">
                <a:ln>
                  <a:noFill/>
                </a:ln>
                <a:solidFill>
                  <a:schemeClr val="tx1"/>
                </a:solidFill>
                <a:effectLst/>
                <a:latin typeface="Arial" panose="020B0604020202020204" pitchFamily="34" charset="0"/>
              </a:rPr>
              <a:t>sequential memory capabilities</a:t>
            </a:r>
            <a:r>
              <a:rPr kumimoji="0" lang="en-US" altLang="en-US" sz="1500" b="0" i="0" u="none" strike="noStrike" cap="none" normalizeH="0" baseline="0" dirty="0">
                <a:ln>
                  <a:noFill/>
                </a:ln>
                <a:solidFill>
                  <a:schemeClr val="tx1"/>
                </a:solidFill>
                <a:effectLst/>
                <a:latin typeface="Arial" panose="020B0604020202020204" pitchFamily="34" charset="0"/>
              </a:rPr>
              <a:t> of LSTM, the model aims to effectively capture both short-term and long-term dependencies in environmental sounds.</a:t>
            </a:r>
          </a:p>
          <a:p>
            <a:pPr marL="0" indent="0" eaLnBrk="0" fontAlgn="base" hangingPunct="0">
              <a:lnSpc>
                <a:spcPct val="100000"/>
              </a:lnSpc>
              <a:spcBef>
                <a:spcPct val="0"/>
              </a:spcBef>
              <a:spcAft>
                <a:spcPct val="0"/>
              </a:spcAft>
              <a:buClrTx/>
              <a:buSzTx/>
              <a:buNone/>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lnSpc>
                <a:spcPct val="100000"/>
              </a:lnSpc>
              <a:spcBef>
                <a:spcPct val="0"/>
              </a:spcBef>
              <a:spcAft>
                <a:spcPct val="0"/>
              </a:spcAft>
              <a:buClrTx/>
              <a:buSzTx/>
            </a:pPr>
            <a:r>
              <a:rPr kumimoji="0" lang="en-US" altLang="en-US" sz="1500" b="0" i="0" u="none" strike="noStrike" cap="none" normalizeH="0" baseline="0" dirty="0">
                <a:ln>
                  <a:noFill/>
                </a:ln>
                <a:solidFill>
                  <a:schemeClr val="tx1"/>
                </a:solidFill>
                <a:effectLst/>
                <a:latin typeface="Arial" panose="020B0604020202020204" pitchFamily="34" charset="0"/>
              </a:rPr>
              <a:t>Results demonstrate superior performance compared to traditional models, offering an </a:t>
            </a:r>
            <a:r>
              <a:rPr lang="en-US" altLang="en-US" sz="1500" dirty="0">
                <a:solidFill>
                  <a:schemeClr val="tx1"/>
                </a:solidFill>
                <a:latin typeface="Arial" panose="020B0604020202020204" pitchFamily="34" charset="0"/>
              </a:rPr>
              <a:t>improvement </a:t>
            </a:r>
            <a:r>
              <a:rPr kumimoji="0" lang="en-US" altLang="en-US" sz="1500" b="0" i="0" u="none" strike="noStrike" cap="none" normalizeH="0" baseline="0" dirty="0">
                <a:ln>
                  <a:noFill/>
                </a:ln>
                <a:solidFill>
                  <a:schemeClr val="tx1"/>
                </a:solidFill>
                <a:effectLst/>
                <a:latin typeface="Arial" panose="020B0604020202020204" pitchFamily="34" charset="0"/>
              </a:rPr>
              <a:t>over baseline methods.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TextBox 2">
            <a:extLst>
              <a:ext uri="{FF2B5EF4-FFF2-40B4-BE49-F238E27FC236}">
                <a16:creationId xmlns:a16="http://schemas.microsoft.com/office/drawing/2014/main" id="{32A489CF-3CED-4866-A56A-7DB4FFAED4EB}"/>
              </a:ext>
            </a:extLst>
          </p:cNvPr>
          <p:cNvSpPr txBox="1"/>
          <p:nvPr/>
        </p:nvSpPr>
        <p:spPr>
          <a:xfrm>
            <a:off x="244057" y="558222"/>
            <a:ext cx="8655886" cy="3247043"/>
          </a:xfrm>
          <a:prstGeom prst="rect">
            <a:avLst/>
          </a:prstGeom>
          <a:noFill/>
        </p:spPr>
        <p:txBody>
          <a:bodyPr wrap="square">
            <a:spAutoFit/>
          </a:bodyPr>
          <a:lstStyle/>
          <a:p>
            <a:r>
              <a:rPr lang="en-US" sz="2400" b="1" dirty="0">
                <a:solidFill>
                  <a:schemeClr val="tx1"/>
                </a:solidFill>
              </a:rPr>
              <a:t>Real-World Applications</a:t>
            </a:r>
          </a:p>
          <a:p>
            <a:endParaRPr lang="en-US" sz="1600" dirty="0">
              <a:solidFill>
                <a:schemeClr val="tx1"/>
              </a:solidFill>
            </a:endParaRPr>
          </a:p>
          <a:p>
            <a:r>
              <a:rPr lang="en-US" sz="1500" b="1" dirty="0">
                <a:solidFill>
                  <a:schemeClr val="tx1"/>
                </a:solidFill>
              </a:rPr>
              <a:t>Urban Sound Monitoring</a:t>
            </a:r>
            <a:r>
              <a:rPr lang="en-US" sz="1500" dirty="0">
                <a:solidFill>
                  <a:schemeClr val="tx1"/>
                </a:solidFill>
              </a:rPr>
              <a:t>: Detect and classify multiple noise sources (e.g., vehicles, construction) in smart cities, helping to manage urban noise pollution and improve quality of life.</a:t>
            </a:r>
          </a:p>
          <a:p>
            <a:endParaRPr lang="en-US" sz="1500" b="1" dirty="0">
              <a:solidFill>
                <a:schemeClr val="tx1"/>
              </a:solidFill>
            </a:endParaRPr>
          </a:p>
          <a:p>
            <a:r>
              <a:rPr lang="en-US" sz="1500" b="1" dirty="0">
                <a:solidFill>
                  <a:schemeClr val="tx1"/>
                </a:solidFill>
              </a:rPr>
              <a:t>Smart Cities</a:t>
            </a:r>
            <a:r>
              <a:rPr lang="en-US" sz="1500" dirty="0">
                <a:solidFill>
                  <a:schemeClr val="tx1"/>
                </a:solidFill>
              </a:rPr>
              <a:t>: Applications such as traffic management can benefit from accurate sound classification by distinguishing between different vehicle types or events like sirens and horns.</a:t>
            </a:r>
          </a:p>
          <a:p>
            <a:endParaRPr lang="en-US" sz="1500" b="1" dirty="0">
              <a:solidFill>
                <a:schemeClr val="tx1"/>
              </a:solidFill>
            </a:endParaRPr>
          </a:p>
          <a:p>
            <a:r>
              <a:rPr lang="en-US" sz="1500" b="1" dirty="0">
                <a:solidFill>
                  <a:schemeClr val="tx1"/>
                </a:solidFill>
              </a:rPr>
              <a:t>Environmental Sound Detection</a:t>
            </a:r>
            <a:r>
              <a:rPr lang="en-US" sz="1500" dirty="0">
                <a:solidFill>
                  <a:schemeClr val="tx1"/>
                </a:solidFill>
              </a:rPr>
              <a:t>: Detect sounds in natural settings for wildlife conservation, where animal sounds may be used to monitor their population and activities.</a:t>
            </a:r>
          </a:p>
          <a:p>
            <a:endParaRPr lang="en-US" sz="1500" b="1" dirty="0">
              <a:solidFill>
                <a:schemeClr val="tx1"/>
              </a:solidFill>
            </a:endParaRPr>
          </a:p>
          <a:p>
            <a:r>
              <a:rPr lang="en-US" sz="1500" b="1" dirty="0">
                <a:solidFill>
                  <a:schemeClr val="tx1"/>
                </a:solidFill>
              </a:rPr>
              <a:t>Security Systems</a:t>
            </a:r>
            <a:r>
              <a:rPr lang="en-US" sz="1500" dirty="0">
                <a:solidFill>
                  <a:schemeClr val="tx1"/>
                </a:solidFill>
              </a:rPr>
              <a:t>: Classify sounds in public spaces to identify suspicious activities or events, improving surveillance accuracy in airports, train stations, or large gatherings.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A67BE6F1-3901-F75E-9C19-CEB4C97F4D2E}"/>
              </a:ext>
            </a:extLst>
          </p:cNvPr>
          <p:cNvSpPr>
            <a:spLocks noChangeArrowheads="1"/>
          </p:cNvSpPr>
          <p:nvPr/>
        </p:nvSpPr>
        <p:spPr bwMode="auto">
          <a:xfrm rot="10800000" flipV="1">
            <a:off x="158619" y="1167565"/>
            <a:ext cx="7959013"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dirty="0">
                <a:ln>
                  <a:noFill/>
                </a:ln>
                <a:solidFill>
                  <a:schemeClr val="tx1"/>
                </a:solidFill>
                <a:effectLst/>
                <a:latin typeface="Arial" panose="020B0604020202020204" pitchFamily="34" charset="0"/>
              </a:rPr>
              <a:t>Zhang et al. (2020)</a:t>
            </a:r>
            <a:r>
              <a:rPr kumimoji="0" lang="en-US" altLang="en-US" sz="1500" b="0" i="0" u="none" strike="noStrike" cap="none" normalizeH="0" baseline="0" dirty="0">
                <a:ln>
                  <a:noFill/>
                </a:ln>
                <a:solidFill>
                  <a:schemeClr val="tx1"/>
                </a:solidFill>
                <a:effectLst/>
                <a:latin typeface="Arial" panose="020B0604020202020204" pitchFamily="34" charset="0"/>
              </a:rPr>
              <a:t>: Proposed a convolutional RNN combining CNNs and bidirectional GRUs to capture spatial and temporal sound patterns using log-</a:t>
            </a:r>
            <a:r>
              <a:rPr kumimoji="0" lang="en-US" altLang="en-US" sz="1500" b="0" i="0" u="none" strike="noStrike" cap="none" normalizeH="0" baseline="0" dirty="0" err="1">
                <a:ln>
                  <a:noFill/>
                </a:ln>
                <a:solidFill>
                  <a:schemeClr val="tx1"/>
                </a:solidFill>
                <a:effectLst/>
                <a:latin typeface="Arial" panose="020B0604020202020204" pitchFamily="34" charset="0"/>
              </a:rPr>
              <a:t>mel</a:t>
            </a:r>
            <a:r>
              <a:rPr kumimoji="0" lang="en-US" altLang="en-US" sz="1500" b="0" i="0" u="none" strike="noStrike" cap="none" normalizeH="0" baseline="0" dirty="0">
                <a:ln>
                  <a:noFill/>
                </a:ln>
                <a:solidFill>
                  <a:schemeClr val="tx1"/>
                </a:solidFill>
                <a:effectLst/>
                <a:latin typeface="Arial" panose="020B0604020202020204" pitchFamily="34" charset="0"/>
              </a:rPr>
              <a:t> spectrograms, improving classification accuracy.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dirty="0">
                <a:ln>
                  <a:noFill/>
                </a:ln>
                <a:solidFill>
                  <a:schemeClr val="tx1"/>
                </a:solidFill>
                <a:effectLst/>
                <a:latin typeface="Arial" panose="020B0604020202020204" pitchFamily="34" charset="0"/>
              </a:rPr>
              <a:t>L. Zhou et al. (2021)</a:t>
            </a:r>
            <a:r>
              <a:rPr kumimoji="0" lang="en-US" altLang="en-US" sz="1500" b="0" i="0" u="none" strike="noStrike" cap="none" normalizeH="0" baseline="0" dirty="0">
                <a:ln>
                  <a:noFill/>
                </a:ln>
                <a:solidFill>
                  <a:schemeClr val="tx1"/>
                </a:solidFill>
                <a:effectLst/>
                <a:latin typeface="Arial" panose="020B0604020202020204" pitchFamily="34" charset="0"/>
              </a:rPr>
              <a:t>: Developed the Feature Pyramid Attention Network (FPAM), which leverages multi-scale hierarchical feature extraction with spatial and channel attention mechanisms for improved sound classification.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dirty="0">
                <a:ln>
                  <a:noFill/>
                </a:ln>
                <a:solidFill>
                  <a:schemeClr val="tx1"/>
                </a:solidFill>
                <a:effectLst/>
                <a:latin typeface="Arial" panose="020B0604020202020204" pitchFamily="34" charset="0"/>
              </a:rPr>
              <a:t>Bansal et al. (2021)</a:t>
            </a:r>
            <a:r>
              <a:rPr kumimoji="0" lang="en-US" altLang="en-US" sz="1500" b="0" i="0" u="none" strike="noStrike" cap="none" normalizeH="0" baseline="0" dirty="0">
                <a:ln>
                  <a:noFill/>
                </a:ln>
                <a:solidFill>
                  <a:schemeClr val="tx1"/>
                </a:solidFill>
                <a:effectLst/>
                <a:latin typeface="Arial" panose="020B0604020202020204" pitchFamily="34" charset="0"/>
              </a:rPr>
              <a:t>: Proposed a hybrid ensemble classifier combining five machine learning models, and a CRNN model achieving 93.58% accuracy on the UrbanSound8k dataset.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dirty="0" err="1">
                <a:ln>
                  <a:noFill/>
                </a:ln>
                <a:solidFill>
                  <a:schemeClr val="tx1"/>
                </a:solidFill>
                <a:effectLst/>
                <a:latin typeface="Arial" panose="020B0604020202020204" pitchFamily="34" charset="0"/>
              </a:rPr>
              <a:t>Guzhov</a:t>
            </a:r>
            <a:r>
              <a:rPr kumimoji="0" lang="en-US" altLang="en-US" sz="1500" b="1" i="0" u="none" strike="noStrike" cap="none" normalizeH="0" baseline="0" dirty="0">
                <a:ln>
                  <a:noFill/>
                </a:ln>
                <a:solidFill>
                  <a:schemeClr val="tx1"/>
                </a:solidFill>
                <a:effectLst/>
                <a:latin typeface="Arial" panose="020B0604020202020204" pitchFamily="34" charset="0"/>
              </a:rPr>
              <a:t> et al. (2022)</a:t>
            </a:r>
            <a:r>
              <a:rPr kumimoji="0" lang="en-US" altLang="en-US" sz="1500" b="0" i="0" u="none" strike="noStrike" cap="none" normalizeH="0" baseline="0" dirty="0">
                <a:ln>
                  <a:noFill/>
                </a:ln>
                <a:solidFill>
                  <a:schemeClr val="tx1"/>
                </a:solidFill>
                <a:effectLst/>
                <a:latin typeface="Arial" panose="020B0604020202020204" pitchFamily="34" charset="0"/>
              </a:rPr>
              <a:t>: Utilized </a:t>
            </a:r>
            <a:r>
              <a:rPr kumimoji="0" lang="en-US" altLang="en-US" sz="1500" b="0" i="0" u="none" strike="noStrike" cap="none" normalizeH="0" baseline="0" dirty="0" err="1">
                <a:ln>
                  <a:noFill/>
                </a:ln>
                <a:solidFill>
                  <a:schemeClr val="tx1"/>
                </a:solidFill>
                <a:effectLst/>
                <a:latin typeface="Arial" panose="020B0604020202020204" pitchFamily="34" charset="0"/>
              </a:rPr>
              <a:t>ResNet</a:t>
            </a:r>
            <a:r>
              <a:rPr kumimoji="0" lang="en-US" altLang="en-US" sz="1500" b="0" i="0" u="none" strike="noStrike" cap="none" normalizeH="0" baseline="0" dirty="0">
                <a:ln>
                  <a:noFill/>
                </a:ln>
                <a:solidFill>
                  <a:schemeClr val="tx1"/>
                </a:solidFill>
                <a:effectLst/>
                <a:latin typeface="Arial" panose="020B0604020202020204" pitchFamily="34" charset="0"/>
              </a:rPr>
              <a:t> and Siamese networks to handle mono and stereo sound inputs with log-power STFT spectrograms.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C2B81CBF-FFAE-3C94-ED54-DD31361D59B3}"/>
              </a:ext>
            </a:extLst>
          </p:cNvPr>
          <p:cNvSpPr txBox="1"/>
          <p:nvPr/>
        </p:nvSpPr>
        <p:spPr>
          <a:xfrm>
            <a:off x="246185" y="307731"/>
            <a:ext cx="6576646" cy="461665"/>
          </a:xfrm>
          <a:prstGeom prst="rect">
            <a:avLst/>
          </a:prstGeom>
          <a:noFill/>
        </p:spPr>
        <p:txBody>
          <a:bodyPr wrap="square" rtlCol="0">
            <a:spAutoFit/>
          </a:bodyPr>
          <a:lstStyle/>
          <a:p>
            <a:r>
              <a:rPr lang="en-US" sz="2400" b="1" dirty="0"/>
              <a:t>Literature Survey:</a:t>
            </a:r>
            <a:endParaRPr lang="en-IN" sz="2400" b="1" dirty="0"/>
          </a:p>
        </p:txBody>
      </p:sp>
    </p:spTree>
    <p:extLst>
      <p:ext uri="{BB962C8B-B14F-4D97-AF65-F5344CB8AC3E}">
        <p14:creationId xmlns:p14="http://schemas.microsoft.com/office/powerpoint/2010/main" val="1702120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22779D2-7057-32BC-243D-48982F898F2F}"/>
              </a:ext>
            </a:extLst>
          </p:cNvPr>
          <p:cNvSpPr>
            <a:spLocks noGrp="1" noChangeArrowheads="1"/>
          </p:cNvSpPr>
          <p:nvPr>
            <p:ph type="body" idx="1"/>
          </p:nvPr>
        </p:nvSpPr>
        <p:spPr bwMode="auto">
          <a:xfrm>
            <a:off x="202223" y="1104639"/>
            <a:ext cx="7781192"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lnSpc>
                <a:spcPct val="100000"/>
              </a:lnSpc>
              <a:spcBef>
                <a:spcPct val="0"/>
              </a:spcBef>
              <a:spcAft>
                <a:spcPct val="0"/>
              </a:spcAft>
              <a:buClrTx/>
              <a:buSzTx/>
            </a:pPr>
            <a:r>
              <a:rPr kumimoji="0" lang="en-US" altLang="en-US" sz="1500" b="1" i="0" u="none" strike="noStrike" cap="none" normalizeH="0" baseline="0" dirty="0">
                <a:ln>
                  <a:noFill/>
                </a:ln>
                <a:solidFill>
                  <a:schemeClr val="tx1"/>
                </a:solidFill>
                <a:effectLst/>
                <a:latin typeface="Arial" panose="020B0604020202020204" pitchFamily="34" charset="0"/>
              </a:rPr>
              <a:t>Liu et al. (2022)</a:t>
            </a:r>
            <a:r>
              <a:rPr kumimoji="0" lang="en-US" altLang="en-US" sz="1500" b="0" i="0" u="none" strike="noStrike" cap="none" normalizeH="0" baseline="0" dirty="0">
                <a:ln>
                  <a:noFill/>
                </a:ln>
                <a:solidFill>
                  <a:schemeClr val="tx1"/>
                </a:solidFill>
                <a:effectLst/>
                <a:latin typeface="Arial" panose="020B0604020202020204" pitchFamily="34" charset="0"/>
              </a:rPr>
              <a:t>: Introduced the Causal Audio Transformer (CAT), which incorporates multi-feature extraction and acoustic attention for enhanced audio modeling.</a:t>
            </a:r>
          </a:p>
          <a:p>
            <a:pPr marL="285750" indent="-285750" algn="just" eaLnBrk="0" fontAlgn="base" hangingPunct="0">
              <a:lnSpc>
                <a:spcPct val="100000"/>
              </a:lnSpc>
              <a:spcBef>
                <a:spcPct val="0"/>
              </a:spcBef>
              <a:spcAft>
                <a:spcPct val="0"/>
              </a:spcAft>
              <a:buClrTx/>
              <a:buSzTx/>
            </a:pPr>
            <a:endParaRPr kumimoji="0" lang="en-US" altLang="en-US" sz="1500" b="1" i="0" u="none" strike="noStrike" cap="none" normalizeH="0" baseline="0" dirty="0">
              <a:ln>
                <a:noFill/>
              </a:ln>
              <a:solidFill>
                <a:schemeClr val="tx1"/>
              </a:solidFill>
              <a:effectLst/>
              <a:latin typeface="Arial" panose="020B0604020202020204" pitchFamily="34" charset="0"/>
            </a:endParaRPr>
          </a:p>
          <a:p>
            <a:pPr marL="285750" indent="-285750" algn="just" eaLnBrk="0" fontAlgn="base" hangingPunct="0">
              <a:lnSpc>
                <a:spcPct val="100000"/>
              </a:lnSpc>
              <a:spcBef>
                <a:spcPct val="0"/>
              </a:spcBef>
              <a:spcAft>
                <a:spcPct val="0"/>
              </a:spcAft>
              <a:buClrTx/>
              <a:buSzTx/>
            </a:pPr>
            <a:r>
              <a:rPr kumimoji="0" lang="en-US" altLang="en-US" sz="1500" b="1" i="0" u="none" strike="noStrike" cap="none" normalizeH="0" baseline="0" dirty="0">
                <a:ln>
                  <a:noFill/>
                </a:ln>
                <a:solidFill>
                  <a:schemeClr val="tx1"/>
                </a:solidFill>
                <a:effectLst/>
                <a:latin typeface="Arial" panose="020B0604020202020204" pitchFamily="34" charset="0"/>
              </a:rPr>
              <a:t>Xiao et al. (2023)</a:t>
            </a:r>
            <a:r>
              <a:rPr kumimoji="0" lang="en-US" altLang="en-US" sz="1500" b="0" i="0" u="none" strike="noStrike" cap="none" normalizeH="0" baseline="0" dirty="0">
                <a:ln>
                  <a:noFill/>
                </a:ln>
                <a:solidFill>
                  <a:schemeClr val="tx1"/>
                </a:solidFill>
                <a:effectLst/>
                <a:latin typeface="Arial" panose="020B0604020202020204" pitchFamily="34" charset="0"/>
              </a:rPr>
              <a:t>: Developed </a:t>
            </a:r>
            <a:r>
              <a:rPr kumimoji="0" lang="en-US" altLang="en-US" sz="1500" b="0" i="0" u="none" strike="noStrike" cap="none" normalizeH="0" baseline="0" dirty="0" err="1">
                <a:ln>
                  <a:noFill/>
                </a:ln>
                <a:solidFill>
                  <a:schemeClr val="tx1"/>
                </a:solidFill>
                <a:effectLst/>
                <a:latin typeface="Arial" panose="020B0604020202020204" pitchFamily="34" charset="0"/>
              </a:rPr>
              <a:t>SemanticAC</a:t>
            </a:r>
            <a:r>
              <a:rPr kumimoji="0" lang="en-US" altLang="en-US" sz="1500" b="0" i="0" u="none" strike="noStrike" cap="none" normalizeH="0" baseline="0" dirty="0">
                <a:ln>
                  <a:noFill/>
                </a:ln>
                <a:solidFill>
                  <a:schemeClr val="tx1"/>
                </a:solidFill>
                <a:effectLst/>
                <a:latin typeface="Arial" panose="020B0604020202020204" pitchFamily="34" charset="0"/>
              </a:rPr>
              <a:t>, a semantics-assisted framework that aligns audio signals with semantic-rich class labels, improving classification accuracy.</a:t>
            </a:r>
          </a:p>
          <a:p>
            <a:pPr marL="285750" indent="-285750" algn="just" eaLnBrk="0" fontAlgn="base" hangingPunct="0">
              <a:lnSpc>
                <a:spcPct val="100000"/>
              </a:lnSpc>
              <a:spcBef>
                <a:spcPct val="0"/>
              </a:spcBef>
              <a:spcAft>
                <a:spcPct val="0"/>
              </a:spcAft>
              <a:buClrTx/>
              <a:buSzTx/>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indent="-285750" algn="just" eaLnBrk="0" fontAlgn="base" hangingPunct="0">
              <a:lnSpc>
                <a:spcPct val="100000"/>
              </a:lnSpc>
              <a:spcBef>
                <a:spcPct val="0"/>
              </a:spcBef>
              <a:spcAft>
                <a:spcPct val="0"/>
              </a:spcAft>
              <a:buClrTx/>
              <a:buSzTx/>
            </a:pPr>
            <a:r>
              <a:rPr kumimoji="0" lang="en-US" altLang="en-US" sz="1500" b="1" i="0" u="none" strike="noStrike" cap="none" normalizeH="0" baseline="0" dirty="0" err="1">
                <a:ln>
                  <a:noFill/>
                </a:ln>
                <a:solidFill>
                  <a:schemeClr val="tx1"/>
                </a:solidFill>
                <a:effectLst/>
                <a:latin typeface="Arial" panose="020B0604020202020204" pitchFamily="34" charset="0"/>
              </a:rPr>
              <a:t>Nasef</a:t>
            </a:r>
            <a:r>
              <a:rPr kumimoji="0" lang="en-US" altLang="en-US" sz="1500" b="1" i="0" u="none" strike="noStrike" cap="none" normalizeH="0" baseline="0" dirty="0">
                <a:ln>
                  <a:noFill/>
                </a:ln>
                <a:solidFill>
                  <a:schemeClr val="tx1"/>
                </a:solidFill>
                <a:effectLst/>
                <a:latin typeface="Arial" panose="020B0604020202020204" pitchFamily="34" charset="0"/>
              </a:rPr>
              <a:t> et al. (2023)</a:t>
            </a:r>
            <a:r>
              <a:rPr kumimoji="0" lang="en-US" altLang="en-US" sz="1500" b="0" i="0" u="none" strike="noStrike" cap="none" normalizeH="0" baseline="0" dirty="0">
                <a:ln>
                  <a:noFill/>
                </a:ln>
                <a:solidFill>
                  <a:schemeClr val="tx1"/>
                </a:solidFill>
                <a:effectLst/>
                <a:latin typeface="Arial" panose="020B0604020202020204" pitchFamily="34" charset="0"/>
              </a:rPr>
              <a:t>: Proposed a Residual Self-Attention (RSA) model, achieving over 93% accuracy on benchmark datasets using MFCC inputs and attention-based architectures.</a:t>
            </a:r>
          </a:p>
          <a:p>
            <a:pPr marL="285750" indent="-285750" algn="just" eaLnBrk="0" fontAlgn="base" hangingPunct="0">
              <a:lnSpc>
                <a:spcPct val="100000"/>
              </a:lnSpc>
              <a:spcBef>
                <a:spcPct val="0"/>
              </a:spcBef>
              <a:spcAft>
                <a:spcPct val="0"/>
              </a:spcAft>
              <a:buClrTx/>
              <a:buSzTx/>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indent="-285750" algn="just" eaLnBrk="0" fontAlgn="base" hangingPunct="0">
              <a:lnSpc>
                <a:spcPct val="100000"/>
              </a:lnSpc>
              <a:spcBef>
                <a:spcPct val="0"/>
              </a:spcBef>
              <a:spcAft>
                <a:spcPct val="0"/>
              </a:spcAft>
              <a:buClrTx/>
              <a:buSzTx/>
            </a:pPr>
            <a:r>
              <a:rPr kumimoji="0" lang="en-US" altLang="en-US" sz="1500" b="1" i="0" u="none" strike="noStrike" cap="none" normalizeH="0" baseline="0" dirty="0" err="1">
                <a:ln>
                  <a:noFill/>
                </a:ln>
                <a:solidFill>
                  <a:schemeClr val="tx1"/>
                </a:solidFill>
                <a:effectLst/>
                <a:latin typeface="Arial" panose="020B0604020202020204" pitchFamily="34" charset="0"/>
              </a:rPr>
              <a:t>IniK</a:t>
            </a:r>
            <a:r>
              <a:rPr kumimoji="0" lang="en-US" altLang="en-US" sz="1500" b="1" i="0" u="none" strike="noStrike" cap="none" normalizeH="0" baseline="0" dirty="0">
                <a:ln>
                  <a:noFill/>
                </a:ln>
                <a:solidFill>
                  <a:schemeClr val="tx1"/>
                </a:solidFill>
                <a:effectLst/>
                <a:latin typeface="Arial" panose="020B0604020202020204" pitchFamily="34" charset="0"/>
              </a:rPr>
              <a:t> et al. (2023)</a:t>
            </a:r>
            <a:r>
              <a:rPr kumimoji="0" lang="en-US" altLang="en-US" sz="1500" b="0" i="0" u="none" strike="noStrike" cap="none" normalizeH="0" baseline="0" dirty="0">
                <a:ln>
                  <a:noFill/>
                </a:ln>
                <a:solidFill>
                  <a:schemeClr val="tx1"/>
                </a:solidFill>
                <a:effectLst/>
                <a:latin typeface="Arial" panose="020B0604020202020204" pitchFamily="34" charset="0"/>
              </a:rPr>
              <a:t>: Applied Particle Swarm Optimization (PSO) to tune CNN architectures, achieving state-of-the-art performance on ESC-50, ESC-10, and UrbanSound8k.</a:t>
            </a:r>
          </a:p>
        </p:txBody>
      </p:sp>
    </p:spTree>
    <p:extLst>
      <p:ext uri="{BB962C8B-B14F-4D97-AF65-F5344CB8AC3E}">
        <p14:creationId xmlns:p14="http://schemas.microsoft.com/office/powerpoint/2010/main" val="3544956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8" name="Google Shape;78;p16"/>
          <p:cNvSpPr txBox="1">
            <a:spLocks noGrp="1"/>
          </p:cNvSpPr>
          <p:nvPr>
            <p:ph type="body" idx="1"/>
          </p:nvPr>
        </p:nvSpPr>
        <p:spPr>
          <a:xfrm>
            <a:off x="139959" y="625151"/>
            <a:ext cx="8574833" cy="2575250"/>
          </a:xfrm>
          <a:prstGeom prst="rect">
            <a:avLst/>
          </a:prstGeom>
        </p:spPr>
        <p:txBody>
          <a:bodyPr spcFirstLastPara="1" wrap="square" lIns="91425" tIns="91425" rIns="91425" bIns="91425" anchor="t" anchorCtr="0">
            <a:noAutofit/>
          </a:bodyPr>
          <a:lstStyle/>
          <a:p>
            <a:pPr marL="114300" indent="0">
              <a:lnSpc>
                <a:spcPct val="150000"/>
              </a:lnSpc>
              <a:buNone/>
            </a:pPr>
            <a:r>
              <a:rPr lang="en-US" sz="2400" b="1" dirty="0">
                <a:solidFill>
                  <a:schemeClr val="tx1"/>
                </a:solidFill>
              </a:rPr>
              <a:t>Problem Statement</a:t>
            </a:r>
            <a:r>
              <a:rPr lang="en-US" sz="2400" dirty="0">
                <a:solidFill>
                  <a:schemeClr val="tx1"/>
                </a:solidFill>
              </a:rPr>
              <a:t>: </a:t>
            </a:r>
          </a:p>
          <a:p>
            <a:pPr marL="114300" indent="0">
              <a:lnSpc>
                <a:spcPct val="150000"/>
              </a:lnSpc>
              <a:buNone/>
            </a:pPr>
            <a:endParaRPr lang="en-US" sz="1400" b="0" i="0" u="none" strike="noStrike" baseline="0" dirty="0">
              <a:solidFill>
                <a:schemeClr val="tx1"/>
              </a:solidFill>
              <a:latin typeface="+mj-lt"/>
            </a:endParaRPr>
          </a:p>
          <a:p>
            <a:pPr marL="114300" indent="0">
              <a:lnSpc>
                <a:spcPct val="150000"/>
              </a:lnSpc>
              <a:buNone/>
            </a:pPr>
            <a:r>
              <a:rPr lang="en-US" sz="1500" b="0" i="0" u="none" strike="noStrike" baseline="0" dirty="0">
                <a:solidFill>
                  <a:schemeClr val="tx1"/>
                </a:solidFill>
                <a:latin typeface="+mn-lt"/>
              </a:rPr>
              <a:t>Traditional deep learning models like CNNs and RNNs face challenges in capturing the overall context and long-range connections needed to differentiate between sound sources. This limitation is especially problematic in real-world scenarios, including urban sound analysis, public safety, healthcare, and environmental monitoring, where accurate sound identification is crucial.</a:t>
            </a:r>
            <a:endParaRPr lang="en-US" sz="1500" dirty="0">
              <a:solidFill>
                <a:schemeClr val="tx1"/>
              </a:solidFill>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8B5C-8E10-A5F0-1F99-E79BB7106B73}"/>
              </a:ext>
            </a:extLst>
          </p:cNvPr>
          <p:cNvSpPr>
            <a:spLocks noGrp="1"/>
          </p:cNvSpPr>
          <p:nvPr>
            <p:ph type="title"/>
          </p:nvPr>
        </p:nvSpPr>
        <p:spPr/>
        <p:txBody>
          <a:bodyPr>
            <a:normAutofit/>
          </a:bodyPr>
          <a:lstStyle/>
          <a:p>
            <a:r>
              <a:rPr lang="en-US" sz="2400" b="1" dirty="0"/>
              <a:t>Proposed Method</a:t>
            </a:r>
            <a:endParaRPr lang="en-IN" sz="2400" b="1" dirty="0"/>
          </a:p>
        </p:txBody>
      </p:sp>
      <p:sp>
        <p:nvSpPr>
          <p:cNvPr id="4" name="Rectangle 1">
            <a:extLst>
              <a:ext uri="{FF2B5EF4-FFF2-40B4-BE49-F238E27FC236}">
                <a16:creationId xmlns:a16="http://schemas.microsoft.com/office/drawing/2014/main" id="{255475FB-3D15-F790-9624-2C9CAA6298ED}"/>
              </a:ext>
            </a:extLst>
          </p:cNvPr>
          <p:cNvSpPr>
            <a:spLocks noGrp="1" noChangeArrowheads="1"/>
          </p:cNvSpPr>
          <p:nvPr>
            <p:ph type="body" idx="1"/>
          </p:nvPr>
        </p:nvSpPr>
        <p:spPr bwMode="auto">
          <a:xfrm>
            <a:off x="311700" y="1346655"/>
            <a:ext cx="8269592" cy="3208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500" i="0" u="none" strike="noStrike" cap="none" normalizeH="0" baseline="0" dirty="0">
                <a:ln>
                  <a:noFill/>
                </a:ln>
                <a:solidFill>
                  <a:schemeClr val="tx1"/>
                </a:solidFill>
                <a:effectLst/>
                <a:latin typeface="Arial" panose="020B0604020202020204" pitchFamily="34" charset="0"/>
              </a:rPr>
              <a:t>Transfer Learning using Audio Spectrogram Transformer (AST)</a:t>
            </a:r>
            <a:r>
              <a:rPr lang="en-US" altLang="en-US" sz="1500" dirty="0">
                <a:solidFill>
                  <a:schemeClr val="tx1"/>
                </a:solidFill>
                <a:latin typeface="Arial" panose="020B0604020202020204" pitchFamily="34" charset="0"/>
              </a:rPr>
              <a:t>:</a:t>
            </a:r>
            <a:r>
              <a:rPr kumimoji="0" lang="en-US" altLang="en-US" sz="1500" i="0" u="none" strike="noStrike" cap="none" normalizeH="0" baseline="0" dirty="0">
                <a:ln>
                  <a:noFill/>
                </a:ln>
                <a:solidFill>
                  <a:schemeClr val="tx1"/>
                </a:solidFill>
                <a:effectLst/>
                <a:latin typeface="Arial" panose="020B0604020202020204" pitchFamily="34" charset="0"/>
              </a:rPr>
              <a:t> AST is </a:t>
            </a:r>
            <a:r>
              <a:rPr lang="en-US" altLang="en-US" sz="1500" dirty="0">
                <a:solidFill>
                  <a:schemeClr val="tx1"/>
                </a:solidFill>
                <a:latin typeface="Arial" panose="020B0604020202020204" pitchFamily="34" charset="0"/>
              </a:rPr>
              <a:t>b</a:t>
            </a:r>
            <a:r>
              <a:rPr kumimoji="0" lang="en-US" altLang="en-US" sz="1500" b="0" i="0" u="none" strike="noStrike" cap="none" normalizeH="0" baseline="0" dirty="0">
                <a:ln>
                  <a:noFill/>
                </a:ln>
                <a:solidFill>
                  <a:schemeClr val="tx1"/>
                </a:solidFill>
                <a:effectLst/>
                <a:latin typeface="Arial" panose="020B0604020202020204" pitchFamily="34" charset="0"/>
              </a:rPr>
              <a:t>ased on Vision Transformer (</a:t>
            </a:r>
            <a:r>
              <a:rPr kumimoji="0" lang="en-US" altLang="en-US" sz="1500" b="0" i="0" u="none" strike="noStrike" cap="none" normalizeH="0" baseline="0" dirty="0" err="1">
                <a:ln>
                  <a:noFill/>
                </a:ln>
                <a:solidFill>
                  <a:schemeClr val="tx1"/>
                </a:solidFill>
                <a:effectLst/>
                <a:latin typeface="Arial" panose="020B0604020202020204" pitchFamily="34" charset="0"/>
              </a:rPr>
              <a:t>ViT</a:t>
            </a:r>
            <a:r>
              <a:rPr kumimoji="0" lang="en-US" altLang="en-US" sz="1500" b="0" i="0" u="none" strike="noStrike" cap="none" normalizeH="0" baseline="0" dirty="0">
                <a:ln>
                  <a:noFill/>
                </a:ln>
                <a:solidFill>
                  <a:schemeClr val="tx1"/>
                </a:solidFill>
                <a:effectLst/>
                <a:latin typeface="Arial" panose="020B0604020202020204" pitchFamily="34" charset="0"/>
              </a:rPr>
              <a:t>), AST converts raw audio signals into spectrogram images and applies a vision transformer model. The spectrogram is split into image patches, each converted into vector embeddings, which are stacked and fed into the transformer. AST is an encoder-only transformer, facilitating easy implementation and transfer learning from </a:t>
            </a:r>
            <a:r>
              <a:rPr kumimoji="0" lang="en-US" altLang="en-US" sz="1500" b="0" i="0" u="none" strike="noStrike" cap="none" normalizeH="0" baseline="0" dirty="0" err="1">
                <a:ln>
                  <a:noFill/>
                </a:ln>
                <a:solidFill>
                  <a:schemeClr val="tx1"/>
                </a:solidFill>
                <a:effectLst/>
                <a:latin typeface="Arial" panose="020B0604020202020204" pitchFamily="34" charset="0"/>
              </a:rPr>
              <a:t>ViT</a:t>
            </a:r>
            <a:r>
              <a:rPr kumimoji="0" lang="en-US" altLang="en-US" sz="15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5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Arial" panose="020B0604020202020204" pitchFamily="34" charset="0"/>
              </a:rPr>
              <a:t>Proposed Model</a:t>
            </a:r>
            <a:r>
              <a:rPr kumimoji="0" lang="en-US" altLang="en-US" sz="1500" b="0" i="0" u="none" strike="noStrike" cap="none" normalizeH="0" baseline="0" dirty="0">
                <a:ln>
                  <a:noFill/>
                </a:ln>
                <a:solidFill>
                  <a:schemeClr val="tx1"/>
                </a:solidFill>
                <a:effectLst/>
                <a:latin typeface="Arial" panose="020B0604020202020204" pitchFamily="34" charset="0"/>
              </a:rPr>
              <a:t>: We extend AST by incorporating </a:t>
            </a:r>
            <a:r>
              <a:rPr kumimoji="0" lang="en-US" altLang="en-US" sz="1500" b="1" i="0" u="none" strike="noStrike" cap="none" normalizeH="0" baseline="0" dirty="0">
                <a:ln>
                  <a:noFill/>
                </a:ln>
                <a:solidFill>
                  <a:schemeClr val="tx1"/>
                </a:solidFill>
                <a:effectLst/>
                <a:latin typeface="Arial" panose="020B0604020202020204" pitchFamily="34" charset="0"/>
              </a:rPr>
              <a:t>Bidirectional-LSTM</a:t>
            </a:r>
            <a:r>
              <a:rPr kumimoji="0" lang="en-US" altLang="en-US" sz="1500" b="0" i="0" u="none" strike="noStrike" cap="none" normalizeH="0" baseline="0" dirty="0">
                <a:ln>
                  <a:noFill/>
                </a:ln>
                <a:solidFill>
                  <a:schemeClr val="tx1"/>
                </a:solidFill>
                <a:effectLst/>
                <a:latin typeface="Arial" panose="020B0604020202020204" pitchFamily="34" charset="0"/>
              </a:rPr>
              <a:t> for memory retention, adding sequential blocks to the AST output. This block consists of a Bi-LSTM layer, 3 linear layers, batch normalization, and dropout, as shown in </a:t>
            </a:r>
            <a:r>
              <a:rPr kumimoji="0" lang="en-US" altLang="en-US" sz="1500" b="1" i="0" u="none" strike="noStrike" cap="none" normalizeH="0" baseline="0" dirty="0">
                <a:ln>
                  <a:noFill/>
                </a:ln>
                <a:solidFill>
                  <a:schemeClr val="tx1"/>
                </a:solidFill>
                <a:effectLst/>
                <a:latin typeface="Arial" panose="020B0604020202020204" pitchFamily="34" charset="0"/>
              </a:rPr>
              <a:t>Fig. 2</a:t>
            </a:r>
            <a:r>
              <a:rPr kumimoji="0" lang="en-US" altLang="en-US" sz="15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99628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5FBB04-DD4F-0175-D517-40B0128449B3}"/>
              </a:ext>
            </a:extLst>
          </p:cNvPr>
          <p:cNvSpPr>
            <a:spLocks noGrp="1"/>
          </p:cNvSpPr>
          <p:nvPr>
            <p:ph type="body" idx="1"/>
          </p:nvPr>
        </p:nvSpPr>
        <p:spPr>
          <a:xfrm>
            <a:off x="1958640" y="4317023"/>
            <a:ext cx="5402563" cy="389913"/>
          </a:xfrm>
        </p:spPr>
        <p:txBody>
          <a:bodyPr>
            <a:normAutofit fontScale="70000" lnSpcReduction="20000"/>
          </a:bodyPr>
          <a:lstStyle/>
          <a:p>
            <a:pPr marL="114300" indent="0" algn="ctr">
              <a:buNone/>
            </a:pPr>
            <a:r>
              <a:rPr lang="en-US" sz="1800" b="0" i="0" u="none" strike="noStrike" baseline="0" dirty="0">
                <a:solidFill>
                  <a:srgbClr val="000000"/>
                </a:solidFill>
                <a:latin typeface="Times New Roman" panose="02020603050405020304" pitchFamily="18" charset="0"/>
              </a:rPr>
              <a:t>Fig. 1. Architecture of Audio Spectrogram Transformer by (Gong. Et al) </a:t>
            </a:r>
            <a:endParaRPr lang="en-IN" dirty="0"/>
          </a:p>
        </p:txBody>
      </p:sp>
      <p:pic>
        <p:nvPicPr>
          <p:cNvPr id="4098" name="Picture 2" descr="drawing">
            <a:extLst>
              <a:ext uri="{FF2B5EF4-FFF2-40B4-BE49-F238E27FC236}">
                <a16:creationId xmlns:a16="http://schemas.microsoft.com/office/drawing/2014/main" id="{42A2CE49-30F1-C31D-7AE5-331DE0D29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835" y="243986"/>
            <a:ext cx="4448175"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408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C38DF8C-01E8-9423-0F5A-FC52DF2B3F4F}"/>
              </a:ext>
            </a:extLst>
          </p:cNvPr>
          <p:cNvSpPr>
            <a:spLocks noGrp="1"/>
          </p:cNvSpPr>
          <p:nvPr>
            <p:ph type="body" idx="1"/>
          </p:nvPr>
        </p:nvSpPr>
        <p:spPr>
          <a:xfrm>
            <a:off x="5405796" y="2571749"/>
            <a:ext cx="3469729" cy="575898"/>
          </a:xfrm>
        </p:spPr>
        <p:txBody>
          <a:bodyPr>
            <a:normAutofit/>
          </a:bodyPr>
          <a:lstStyle/>
          <a:p>
            <a:pPr marL="114300" indent="0">
              <a:buNone/>
            </a:pPr>
            <a:r>
              <a:rPr lang="en-IN" sz="1400" b="0" i="0" u="none" strike="noStrike" baseline="0" dirty="0">
                <a:solidFill>
                  <a:srgbClr val="000000"/>
                </a:solidFill>
                <a:latin typeface="Times New Roman" panose="02020603050405020304" pitchFamily="18" charset="0"/>
              </a:rPr>
              <a:t>Fig. 2. Our proposed model Diagram </a:t>
            </a:r>
            <a:endParaRPr lang="en-IN" sz="1400" dirty="0"/>
          </a:p>
        </p:txBody>
      </p:sp>
      <p:pic>
        <p:nvPicPr>
          <p:cNvPr id="7" name="Picture 6">
            <a:extLst>
              <a:ext uri="{FF2B5EF4-FFF2-40B4-BE49-F238E27FC236}">
                <a16:creationId xmlns:a16="http://schemas.microsoft.com/office/drawing/2014/main" id="{BE144F8F-73A7-697B-02A6-4FAF1A48AA55}"/>
              </a:ext>
            </a:extLst>
          </p:cNvPr>
          <p:cNvPicPr>
            <a:picLocks noChangeAspect="1"/>
          </p:cNvPicPr>
          <p:nvPr/>
        </p:nvPicPr>
        <p:blipFill>
          <a:blip r:embed="rId2"/>
          <a:stretch>
            <a:fillRect/>
          </a:stretch>
        </p:blipFill>
        <p:spPr>
          <a:xfrm>
            <a:off x="268475" y="285766"/>
            <a:ext cx="4977189" cy="4571967"/>
          </a:xfrm>
          <a:prstGeom prst="rect">
            <a:avLst/>
          </a:prstGeom>
        </p:spPr>
      </p:pic>
    </p:spTree>
    <p:extLst>
      <p:ext uri="{BB962C8B-B14F-4D97-AF65-F5344CB8AC3E}">
        <p14:creationId xmlns:p14="http://schemas.microsoft.com/office/powerpoint/2010/main" val="1744337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3" name="Text Placeholder 2">
            <a:extLst>
              <a:ext uri="{FF2B5EF4-FFF2-40B4-BE49-F238E27FC236}">
                <a16:creationId xmlns:a16="http://schemas.microsoft.com/office/drawing/2014/main" id="{2CD7F968-DB77-7B1D-3F04-0FC76A762780}"/>
              </a:ext>
            </a:extLst>
          </p:cNvPr>
          <p:cNvSpPr>
            <a:spLocks noGrp="1" noChangeArrowheads="1"/>
          </p:cNvSpPr>
          <p:nvPr>
            <p:ph type="body" idx="1"/>
          </p:nvPr>
        </p:nvSpPr>
        <p:spPr bwMode="auto">
          <a:xfrm>
            <a:off x="263982" y="446168"/>
            <a:ext cx="8450810" cy="4251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lgn="just">
              <a:buNone/>
            </a:pPr>
            <a:r>
              <a:rPr lang="en-US" sz="2400" b="1" i="0" u="none" strike="noStrike" baseline="0" dirty="0">
                <a:solidFill>
                  <a:schemeClr val="tx1"/>
                </a:solidFill>
                <a:latin typeface="+mn-lt"/>
              </a:rPr>
              <a:t>Implementation:</a:t>
            </a:r>
          </a:p>
          <a:p>
            <a:pPr algn="just"/>
            <a:endParaRPr lang="en-US" sz="1600" b="0" i="0" u="none" strike="noStrike" baseline="0" dirty="0">
              <a:solidFill>
                <a:srgbClr val="000000"/>
              </a:solidFill>
              <a:latin typeface="+mn-lt"/>
            </a:endParaRPr>
          </a:p>
          <a:p>
            <a:pPr algn="just"/>
            <a:r>
              <a:rPr lang="en-US" sz="1500" b="0" i="0" u="none" strike="noStrike" baseline="0" dirty="0">
                <a:solidFill>
                  <a:srgbClr val="000000"/>
                </a:solidFill>
                <a:latin typeface="+mn-lt"/>
              </a:rPr>
              <a:t>In our implementation, we used three key datasets for training the model:  ESC-10, ESC-50, and UrbanSound8K. These datasets are widely recognized benchmarks for Environmental Sound Classification (ESC) and provide a diverse range of audio samples for evaluating machine learning model performance. </a:t>
            </a:r>
          </a:p>
          <a:p>
            <a:pPr marL="114300" indent="0" algn="just">
              <a:buNone/>
            </a:pPr>
            <a:endParaRPr lang="en-US" sz="1500" b="0" i="0" u="none" strike="noStrike" baseline="0" dirty="0">
              <a:solidFill>
                <a:srgbClr val="000000"/>
              </a:solidFill>
              <a:latin typeface="+mn-lt"/>
            </a:endParaRPr>
          </a:p>
          <a:p>
            <a:pPr algn="just"/>
            <a:r>
              <a:rPr lang="en-US" sz="1500" b="0" i="0" u="none" strike="noStrike" baseline="0" dirty="0">
                <a:solidFill>
                  <a:srgbClr val="000000"/>
                </a:solidFill>
                <a:latin typeface="+mn-lt"/>
              </a:rPr>
              <a:t>The ESC-10 dataset contains 400 audio files categorized into 10 distinct classes, while ESC-50 is a larger dataset with 2000 audio files spanning 50 different categories. Both datasets are divided into five folds for cross-validation, allowing for a robust evaluation of model performance across different subsets of the data.</a:t>
            </a:r>
          </a:p>
          <a:p>
            <a:pPr marL="114300" indent="0" algn="just">
              <a:buNone/>
            </a:pPr>
            <a:endParaRPr lang="en-US" sz="1500" b="0" i="0" u="none" strike="noStrike" baseline="0" dirty="0">
              <a:solidFill>
                <a:srgbClr val="000000"/>
              </a:solidFill>
              <a:latin typeface="+mn-lt"/>
            </a:endParaRPr>
          </a:p>
          <a:p>
            <a:pPr algn="just"/>
            <a:r>
              <a:rPr lang="en-US" sz="1500" b="0" i="0" u="none" strike="noStrike" baseline="0" dirty="0">
                <a:solidFill>
                  <a:srgbClr val="000000"/>
                </a:solidFill>
                <a:latin typeface="+mn-lt"/>
              </a:rPr>
              <a:t>UrbanSound8K contains 8732 audio files categorized into 10 different classes and is frequently used for training models that need to classify various urban sound events, such as car horns, sirens, and street music.</a:t>
            </a:r>
            <a:endParaRPr kumimoji="0" lang="en-US" altLang="en-US" sz="1500" b="0" i="0" u="none" strike="noStrike" cap="none" normalizeH="0" baseline="0" dirty="0">
              <a:ln>
                <a:noFill/>
              </a:ln>
              <a:solidFill>
                <a:srgbClr val="351C75"/>
              </a:solidFill>
              <a:effectLst/>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5783464-7D84-94C8-9E7F-713BBCAE1F1B}"/>
              </a:ext>
            </a:extLst>
          </p:cNvPr>
          <p:cNvSpPr>
            <a:spLocks noGrp="1"/>
          </p:cNvSpPr>
          <p:nvPr>
            <p:ph type="body" idx="1"/>
          </p:nvPr>
        </p:nvSpPr>
        <p:spPr>
          <a:xfrm>
            <a:off x="139958" y="401215"/>
            <a:ext cx="7744409" cy="4581333"/>
          </a:xfrm>
        </p:spPr>
        <p:txBody>
          <a:bodyPr>
            <a:noAutofit/>
          </a:bodyPr>
          <a:lstStyle/>
          <a:p>
            <a:pPr marL="114300" indent="0" algn="just">
              <a:lnSpc>
                <a:spcPct val="150000"/>
              </a:lnSpc>
              <a:buNone/>
            </a:pPr>
            <a:r>
              <a:rPr lang="en-US" sz="1500" b="0" i="0" u="none" strike="noStrike" baseline="0" dirty="0">
                <a:solidFill>
                  <a:schemeClr val="tx1"/>
                </a:solidFill>
                <a:latin typeface="+mn-lt"/>
              </a:rPr>
              <a:t>The ESC-10 and ESC-50 datasets have an equal distribution of audio samples but are small. UrbanSound8K is larger but suffers from class imbalance. To address this, we used data augmentation techniques including time stretching, pitch shifting, and addition of white noise to diversify the audio samples and improve the model's robustness during training.</a:t>
            </a:r>
          </a:p>
          <a:p>
            <a:pPr marL="114300" indent="0" algn="just">
              <a:lnSpc>
                <a:spcPct val="150000"/>
              </a:lnSpc>
              <a:buNone/>
            </a:pPr>
            <a:endParaRPr lang="en-US" sz="1500" dirty="0">
              <a:solidFill>
                <a:schemeClr val="tx1"/>
              </a:solidFill>
              <a:latin typeface="+mn-lt"/>
            </a:endParaRPr>
          </a:p>
          <a:p>
            <a:pPr>
              <a:lnSpc>
                <a:spcPct val="150000"/>
              </a:lnSpc>
            </a:pPr>
            <a:r>
              <a:rPr lang="en-IN" sz="1500" b="0" i="0" u="none" strike="noStrike" baseline="0" dirty="0">
                <a:solidFill>
                  <a:srgbClr val="000000"/>
                </a:solidFill>
                <a:latin typeface="+mn-lt"/>
              </a:rPr>
              <a:t>The augmentation techniques applied included: </a:t>
            </a:r>
          </a:p>
          <a:p>
            <a:pPr>
              <a:lnSpc>
                <a:spcPct val="150000"/>
              </a:lnSpc>
            </a:pPr>
            <a:r>
              <a:rPr lang="en-US" sz="1500" b="0" i="0" u="none" strike="noStrike" baseline="0" dirty="0">
                <a:solidFill>
                  <a:srgbClr val="000000"/>
                </a:solidFill>
                <a:latin typeface="+mn-lt"/>
              </a:rPr>
              <a:t>1. Time Stretching by two factors: 0.8 and 1.2. </a:t>
            </a:r>
          </a:p>
          <a:p>
            <a:pPr>
              <a:lnSpc>
                <a:spcPct val="150000"/>
              </a:lnSpc>
            </a:pPr>
            <a:r>
              <a:rPr lang="en-US" sz="1500" b="0" i="0" u="none" strike="noStrike" baseline="0" dirty="0">
                <a:solidFill>
                  <a:srgbClr val="000000"/>
                </a:solidFill>
                <a:latin typeface="+mn-lt"/>
              </a:rPr>
              <a:t>2. Pitch Shifting by factors of -2 and 2. </a:t>
            </a:r>
          </a:p>
          <a:p>
            <a:pPr>
              <a:lnSpc>
                <a:spcPct val="150000"/>
              </a:lnSpc>
            </a:pPr>
            <a:r>
              <a:rPr lang="en-US" sz="1500" b="0" i="0" u="none" strike="noStrike" baseline="0" dirty="0">
                <a:solidFill>
                  <a:srgbClr val="000000"/>
                </a:solidFill>
                <a:latin typeface="+mn-lt"/>
              </a:rPr>
              <a:t>3. Addition of white noise, with a random factor in the range of [0.005, 0.008]. </a:t>
            </a:r>
            <a:endParaRPr lang="en-IN" sz="1500" dirty="0">
              <a:solidFill>
                <a:schemeClr val="tx1"/>
              </a:solidFill>
              <a:latin typeface="+mn-lt"/>
            </a:endParaRPr>
          </a:p>
        </p:txBody>
      </p:sp>
    </p:spTree>
    <p:extLst>
      <p:ext uri="{BB962C8B-B14F-4D97-AF65-F5344CB8AC3E}">
        <p14:creationId xmlns:p14="http://schemas.microsoft.com/office/powerpoint/2010/main" val="3367785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7241BD6-DD3E-EED6-7FA4-64248EB75231}"/>
                  </a:ext>
                </a:extLst>
              </p:cNvPr>
              <p:cNvSpPr>
                <a:spLocks noGrp="1"/>
              </p:cNvSpPr>
              <p:nvPr>
                <p:ph type="body" idx="1"/>
              </p:nvPr>
            </p:nvSpPr>
            <p:spPr>
              <a:xfrm>
                <a:off x="149469" y="386862"/>
                <a:ext cx="7957039" cy="4510453"/>
              </a:xfrm>
            </p:spPr>
            <p:txBody>
              <a:bodyPr>
                <a:normAutofit/>
              </a:bodyPr>
              <a:lstStyle/>
              <a:p>
                <a:pPr algn="l"/>
                <a:r>
                  <a:rPr lang="en-US" sz="1500" b="0" i="0" u="none" strike="noStrike" baseline="0" dirty="0">
                    <a:solidFill>
                      <a:schemeClr val="tx1"/>
                    </a:solidFill>
                    <a:latin typeface="+mn-lt"/>
                  </a:rPr>
                  <a:t>We have used Adam optimizer with a</a:t>
                </a:r>
                <a:r>
                  <a:rPr lang="en-US" sz="1500" b="0" i="0" u="none" strike="noStrike" dirty="0">
                    <a:solidFill>
                      <a:schemeClr val="tx1"/>
                    </a:solidFill>
                    <a:latin typeface="+mn-lt"/>
                  </a:rPr>
                  <a:t> </a:t>
                </a:r>
                <a:r>
                  <a:rPr lang="en-US" sz="1500" b="0" i="0" u="none" strike="noStrike" baseline="0" dirty="0">
                    <a:solidFill>
                      <a:schemeClr val="tx1"/>
                    </a:solidFill>
                    <a:latin typeface="+mn-lt"/>
                  </a:rPr>
                  <a:t>learning rate 1 x </a:t>
                </a:r>
                <a14:m>
                  <m:oMath xmlns:m="http://schemas.openxmlformats.org/officeDocument/2006/math">
                    <m:sSup>
                      <m:sSupPr>
                        <m:ctrlPr>
                          <a:rPr lang="en-US" sz="1500" b="0" i="1" u="none" strike="noStrike" baseline="0" smtClean="0">
                            <a:solidFill>
                              <a:schemeClr val="tx1"/>
                            </a:solidFill>
                            <a:latin typeface="Cambria Math" panose="02040503050406030204" pitchFamily="18" charset="0"/>
                          </a:rPr>
                        </m:ctrlPr>
                      </m:sSupPr>
                      <m:e>
                        <m:r>
                          <a:rPr lang="en-US" sz="1500" b="0" i="1" u="none" strike="noStrike" baseline="0" smtClean="0">
                            <a:solidFill>
                              <a:schemeClr val="tx1"/>
                            </a:solidFill>
                            <a:latin typeface="Cambria Math" panose="02040503050406030204" pitchFamily="18" charset="0"/>
                          </a:rPr>
                          <m:t>10</m:t>
                        </m:r>
                      </m:e>
                      <m:sup>
                        <m:r>
                          <a:rPr lang="en-US" sz="1500" b="0" i="1" u="none" strike="noStrike" baseline="0" smtClean="0">
                            <a:solidFill>
                              <a:schemeClr val="tx1"/>
                            </a:solidFill>
                            <a:latin typeface="Cambria Math" panose="02040503050406030204" pitchFamily="18" charset="0"/>
                          </a:rPr>
                          <m:t>−4</m:t>
                        </m:r>
                      </m:sup>
                    </m:sSup>
                  </m:oMath>
                </a14:m>
                <a:r>
                  <a:rPr lang="en-US" sz="1500" b="0" i="0" u="none" strike="noStrike" baseline="0" dirty="0">
                    <a:solidFill>
                      <a:schemeClr val="tx1"/>
                    </a:solidFill>
                    <a:latin typeface="+mn-lt"/>
                  </a:rPr>
                  <a:t>. The model was trained up to 20 epochs. Early stopping was implemented to stop training if no improvement was seen in validation accuracy up to 3 epochs. All the parameters were kept the same except the batch sizes. The batch size was kept 64 for ESC-50 and UrbanSound8k datasets and for ESC-10 </a:t>
                </a:r>
                <a:r>
                  <a:rPr lang="en-IN" sz="1500" b="0" i="0" u="none" strike="noStrike" baseline="0" dirty="0">
                    <a:solidFill>
                      <a:schemeClr val="tx1"/>
                    </a:solidFill>
                    <a:latin typeface="+mn-lt"/>
                  </a:rPr>
                  <a:t>it was 16.</a:t>
                </a:r>
              </a:p>
              <a:p>
                <a:pPr algn="l"/>
                <a:endParaRPr lang="en-IN" sz="1500" b="0" i="0" u="none" strike="noStrike" baseline="0" dirty="0">
                  <a:solidFill>
                    <a:schemeClr val="tx1"/>
                  </a:solidFill>
                  <a:latin typeface="+mn-lt"/>
                </a:endParaRPr>
              </a:p>
              <a:p>
                <a:pPr algn="l"/>
                <a:r>
                  <a:rPr lang="en-US" sz="1500" b="0" i="0" u="none" strike="noStrike" baseline="0" dirty="0">
                    <a:solidFill>
                      <a:schemeClr val="tx1"/>
                    </a:solidFill>
                    <a:latin typeface="+mn-lt"/>
                  </a:rPr>
                  <a:t>The outputs of the model are raw logits. Logit is a value that maps probabilities [0, 1] to [−∞,+∞]. </a:t>
                </a:r>
                <a:r>
                  <a:rPr lang="en-US" sz="1500" b="0" i="0" u="none" strike="noStrike" baseline="0" dirty="0" err="1">
                    <a:solidFill>
                      <a:schemeClr val="tx1"/>
                    </a:solidFill>
                    <a:latin typeface="+mn-lt"/>
                  </a:rPr>
                  <a:t>Softmax</a:t>
                </a:r>
                <a:r>
                  <a:rPr lang="en-US" sz="1500" b="0" i="0" u="none" strike="noStrike" baseline="0" dirty="0">
                    <a:solidFill>
                      <a:schemeClr val="tx1"/>
                    </a:solidFill>
                    <a:latin typeface="+mn-lt"/>
                  </a:rPr>
                  <a:t> is a function that is very similar to the Sigmoid function It maps [−∞,+∞] to [0, 1]. But </a:t>
                </a:r>
                <a:r>
                  <a:rPr lang="en-US" sz="1500" b="0" i="0" u="none" strike="noStrike" baseline="0" dirty="0" err="1">
                    <a:solidFill>
                      <a:schemeClr val="tx1"/>
                    </a:solidFill>
                    <a:latin typeface="+mn-lt"/>
                  </a:rPr>
                  <a:t>Softmax</a:t>
                </a:r>
                <a:r>
                  <a:rPr lang="en-US" sz="1500" b="0" i="0" u="none" strike="noStrike" baseline="0" dirty="0">
                    <a:solidFill>
                      <a:schemeClr val="tx1"/>
                    </a:solidFill>
                    <a:latin typeface="+mn-lt"/>
                  </a:rPr>
                  <a:t> also normalizes the sum of the values(output vector) to be 1.</a:t>
                </a:r>
              </a:p>
              <a:p>
                <a:pPr algn="l"/>
                <a:endParaRPr lang="en-US" sz="1500" b="0" i="0" u="none" strike="noStrike" baseline="0" dirty="0">
                  <a:solidFill>
                    <a:schemeClr val="tx1"/>
                  </a:solidFill>
                  <a:latin typeface="+mn-lt"/>
                </a:endParaRPr>
              </a:p>
              <a:p>
                <a:pPr algn="l"/>
                <a:r>
                  <a:rPr lang="en-US" sz="1500" b="0" i="0" u="none" strike="noStrike" baseline="0" dirty="0">
                    <a:solidFill>
                      <a:schemeClr val="tx1"/>
                    </a:solidFill>
                    <a:latin typeface="+mn-lt"/>
                  </a:rPr>
                  <a:t>To interpret the outputs, we first apply the </a:t>
                </a:r>
                <a:r>
                  <a:rPr lang="en-US" sz="1500" b="0" i="0" u="none" strike="noStrike" baseline="0" dirty="0" err="1">
                    <a:solidFill>
                      <a:schemeClr val="tx1"/>
                    </a:solidFill>
                    <a:latin typeface="+mn-lt"/>
                  </a:rPr>
                  <a:t>softmax</a:t>
                </a:r>
                <a:r>
                  <a:rPr lang="en-US" sz="1500" b="0" i="0" u="none" strike="noStrike" baseline="0" dirty="0">
                    <a:solidFill>
                      <a:schemeClr val="tx1"/>
                    </a:solidFill>
                    <a:latin typeface="+mn-lt"/>
                  </a:rPr>
                  <a:t> function on the logits which gives the normalized probabilities as output. The position that has the highest probability value will be the class our input belongs to.</a:t>
                </a:r>
                <a:endParaRPr lang="en-IN" sz="1500" dirty="0">
                  <a:solidFill>
                    <a:schemeClr val="tx1"/>
                  </a:solidFill>
                  <a:latin typeface="+mn-lt"/>
                </a:endParaRPr>
              </a:p>
            </p:txBody>
          </p:sp>
        </mc:Choice>
        <mc:Fallback xmlns="">
          <p:sp>
            <p:nvSpPr>
              <p:cNvPr id="3" name="Text Placeholder 2">
                <a:extLst>
                  <a:ext uri="{FF2B5EF4-FFF2-40B4-BE49-F238E27FC236}">
                    <a16:creationId xmlns:a16="http://schemas.microsoft.com/office/drawing/2014/main" id="{E7241BD6-DD3E-EED6-7FA4-64248EB75231}"/>
                  </a:ext>
                </a:extLst>
              </p:cNvPr>
              <p:cNvSpPr>
                <a:spLocks noGrp="1" noRot="1" noChangeAspect="1" noMove="1" noResize="1" noEditPoints="1" noAdjustHandles="1" noChangeArrowheads="1" noChangeShapeType="1" noTextEdit="1"/>
              </p:cNvSpPr>
              <p:nvPr>
                <p:ph type="body" idx="1"/>
              </p:nvPr>
            </p:nvSpPr>
            <p:spPr>
              <a:xfrm>
                <a:off x="149469" y="386862"/>
                <a:ext cx="7957039" cy="4510453"/>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22869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C374F9E-1FF6-B2C2-4CC7-88BA47E007A9}"/>
              </a:ext>
            </a:extLst>
          </p:cNvPr>
          <p:cNvSpPr txBox="1"/>
          <p:nvPr/>
        </p:nvSpPr>
        <p:spPr>
          <a:xfrm>
            <a:off x="304111" y="273600"/>
            <a:ext cx="5304689" cy="461665"/>
          </a:xfrm>
          <a:prstGeom prst="rect">
            <a:avLst/>
          </a:prstGeom>
          <a:noFill/>
        </p:spPr>
        <p:txBody>
          <a:bodyPr wrap="square" rtlCol="0">
            <a:spAutoFit/>
          </a:bodyPr>
          <a:lstStyle/>
          <a:p>
            <a:r>
              <a:rPr lang="en-US" sz="2400" b="1" dirty="0">
                <a:solidFill>
                  <a:schemeClr val="tx1"/>
                </a:solidFill>
              </a:rPr>
              <a:t>Results :</a:t>
            </a:r>
            <a:endParaRPr lang="en-US" sz="2000" dirty="0">
              <a:solidFill>
                <a:schemeClr val="tx1"/>
              </a:solidFill>
            </a:endParaRPr>
          </a:p>
        </p:txBody>
      </p:sp>
      <p:graphicFrame>
        <p:nvGraphicFramePr>
          <p:cNvPr id="2" name="Table 1">
            <a:extLst>
              <a:ext uri="{FF2B5EF4-FFF2-40B4-BE49-F238E27FC236}">
                <a16:creationId xmlns:a16="http://schemas.microsoft.com/office/drawing/2014/main" id="{D3500DA4-C638-D4AC-4732-0A786BE196C2}"/>
              </a:ext>
            </a:extLst>
          </p:cNvPr>
          <p:cNvGraphicFramePr>
            <a:graphicFrameLocks noGrp="1"/>
          </p:cNvGraphicFramePr>
          <p:nvPr>
            <p:extLst>
              <p:ext uri="{D42A27DB-BD31-4B8C-83A1-F6EECF244321}">
                <p14:modId xmlns:p14="http://schemas.microsoft.com/office/powerpoint/2010/main" val="2881096694"/>
              </p:ext>
            </p:extLst>
          </p:nvPr>
        </p:nvGraphicFramePr>
        <p:xfrm>
          <a:off x="1664677" y="3458796"/>
          <a:ext cx="6096000" cy="1483360"/>
        </p:xfrm>
        <a:graphic>
          <a:graphicData uri="http://schemas.openxmlformats.org/drawingml/2006/table">
            <a:tbl>
              <a:tblPr firstRow="1" bandRow="1">
                <a:tableStyleId>{5CD24A03-3092-4579-8DE0-CCE6BD6100CB}</a:tableStyleId>
              </a:tblPr>
              <a:tblGrid>
                <a:gridCol w="3048000">
                  <a:extLst>
                    <a:ext uri="{9D8B030D-6E8A-4147-A177-3AD203B41FA5}">
                      <a16:colId xmlns:a16="http://schemas.microsoft.com/office/drawing/2014/main" val="2076712569"/>
                    </a:ext>
                  </a:extLst>
                </a:gridCol>
                <a:gridCol w="3048000">
                  <a:extLst>
                    <a:ext uri="{9D8B030D-6E8A-4147-A177-3AD203B41FA5}">
                      <a16:colId xmlns:a16="http://schemas.microsoft.com/office/drawing/2014/main" val="2891446680"/>
                    </a:ext>
                  </a:extLst>
                </a:gridCol>
              </a:tblGrid>
              <a:tr h="370840">
                <a:tc>
                  <a:txBody>
                    <a:bodyPr/>
                    <a:lstStyle/>
                    <a:p>
                      <a:pPr marL="0" marR="0" indent="0" algn="ctr">
                        <a:lnSpc>
                          <a:spcPct val="107000"/>
                        </a:lnSpc>
                        <a:spcBef>
                          <a:spcPts val="0"/>
                        </a:spcBef>
                        <a:spcAft>
                          <a:spcPts val="0"/>
                        </a:spcAft>
                      </a:pPr>
                      <a:r>
                        <a:rPr lang="en-IN" sz="16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Dataset</a:t>
                      </a:r>
                      <a:endParaRPr lang="en-IN" sz="20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tc>
                  <a:txBody>
                    <a:bodyPr/>
                    <a:lstStyle/>
                    <a:p>
                      <a:pPr marL="0" marR="0" indent="0" algn="ctr">
                        <a:lnSpc>
                          <a:spcPct val="107000"/>
                        </a:lnSpc>
                        <a:spcBef>
                          <a:spcPts val="0"/>
                        </a:spcBef>
                        <a:spcAft>
                          <a:spcPts val="0"/>
                        </a:spcAft>
                      </a:pPr>
                      <a:r>
                        <a:rPr lang="en-IN" sz="16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Accuracy</a:t>
                      </a:r>
                      <a:endParaRPr lang="en-IN" sz="20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extLst>
                  <a:ext uri="{0D108BD9-81ED-4DB2-BD59-A6C34878D82A}">
                    <a16:rowId xmlns:a16="http://schemas.microsoft.com/office/drawing/2014/main" val="3956085924"/>
                  </a:ext>
                </a:extLst>
              </a:tr>
              <a:tr h="370840">
                <a:tc>
                  <a:txBody>
                    <a:bodyPr/>
                    <a:lstStyle/>
                    <a:p>
                      <a:pPr marL="0" marR="0" indent="0" algn="ctr">
                        <a:lnSpc>
                          <a:spcPct val="107000"/>
                        </a:lnSpc>
                        <a:spcBef>
                          <a:spcPts val="0"/>
                        </a:spcBef>
                        <a:spcAft>
                          <a:spcPts val="0"/>
                        </a:spcAft>
                      </a:pPr>
                      <a:r>
                        <a:rPr lang="en-IN"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ESC-10</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tc>
                  <a:txBody>
                    <a:bodyPr/>
                    <a:lstStyle/>
                    <a:p>
                      <a:pPr marL="0" marR="0" indent="0" algn="ctr">
                        <a:lnSpc>
                          <a:spcPct val="107000"/>
                        </a:lnSpc>
                        <a:spcBef>
                          <a:spcPts val="0"/>
                        </a:spcBef>
                        <a:spcAft>
                          <a:spcPts val="0"/>
                        </a:spcAft>
                      </a:pPr>
                      <a:r>
                        <a:rPr lang="en-IN"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99.99 %</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extLst>
                  <a:ext uri="{0D108BD9-81ED-4DB2-BD59-A6C34878D82A}">
                    <a16:rowId xmlns:a16="http://schemas.microsoft.com/office/drawing/2014/main" val="336864359"/>
                  </a:ext>
                </a:extLst>
              </a:tr>
              <a:tr h="370840">
                <a:tc>
                  <a:txBody>
                    <a:bodyPr/>
                    <a:lstStyle/>
                    <a:p>
                      <a:pPr marL="0" marR="0" indent="0" algn="ctr">
                        <a:lnSpc>
                          <a:spcPct val="107000"/>
                        </a:lnSpc>
                        <a:spcBef>
                          <a:spcPts val="0"/>
                        </a:spcBef>
                        <a:spcAft>
                          <a:spcPts val="0"/>
                        </a:spcAft>
                      </a:pPr>
                      <a:r>
                        <a:rPr lang="en-IN"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ESC-50</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tc>
                  <a:txBody>
                    <a:bodyPr/>
                    <a:lstStyle/>
                    <a:p>
                      <a:pPr marL="0" marR="0" indent="0" algn="ctr">
                        <a:lnSpc>
                          <a:spcPct val="107000"/>
                        </a:lnSpc>
                        <a:spcBef>
                          <a:spcPts val="0"/>
                        </a:spcBef>
                        <a:spcAft>
                          <a:spcPts val="0"/>
                        </a:spcAft>
                      </a:pPr>
                      <a:r>
                        <a:rPr lang="en-IN"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99.99 %</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extLst>
                  <a:ext uri="{0D108BD9-81ED-4DB2-BD59-A6C34878D82A}">
                    <a16:rowId xmlns:a16="http://schemas.microsoft.com/office/drawing/2014/main" val="4286675178"/>
                  </a:ext>
                </a:extLst>
              </a:tr>
              <a:tr h="370840">
                <a:tc>
                  <a:txBody>
                    <a:bodyPr/>
                    <a:lstStyle/>
                    <a:p>
                      <a:pPr marL="0" marR="0" indent="0" algn="ctr">
                        <a:lnSpc>
                          <a:spcPct val="107000"/>
                        </a:lnSpc>
                        <a:spcBef>
                          <a:spcPts val="0"/>
                        </a:spcBef>
                        <a:spcAft>
                          <a:spcPts val="0"/>
                        </a:spcAft>
                      </a:pPr>
                      <a:r>
                        <a:rPr lang="en-IN" sz="16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UrbanSound8k</a:t>
                      </a:r>
                      <a:endParaRPr lang="en-IN" sz="20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tc>
                  <a:txBody>
                    <a:bodyPr/>
                    <a:lstStyle/>
                    <a:p>
                      <a:pPr marL="0" marR="0" indent="0" algn="ctr">
                        <a:lnSpc>
                          <a:spcPct val="107000"/>
                        </a:lnSpc>
                        <a:spcBef>
                          <a:spcPts val="0"/>
                        </a:spcBef>
                        <a:spcAft>
                          <a:spcPts val="0"/>
                        </a:spcAft>
                      </a:pPr>
                      <a:r>
                        <a:rPr lang="en-IN"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99.96 %</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76200" marB="0"/>
                </a:tc>
                <a:extLst>
                  <a:ext uri="{0D108BD9-81ED-4DB2-BD59-A6C34878D82A}">
                    <a16:rowId xmlns:a16="http://schemas.microsoft.com/office/drawing/2014/main" val="953274803"/>
                  </a:ext>
                </a:extLst>
              </a:tr>
            </a:tbl>
          </a:graphicData>
        </a:graphic>
      </p:graphicFrame>
      <p:sp>
        <p:nvSpPr>
          <p:cNvPr id="4" name="TextBox 3">
            <a:extLst>
              <a:ext uri="{FF2B5EF4-FFF2-40B4-BE49-F238E27FC236}">
                <a16:creationId xmlns:a16="http://schemas.microsoft.com/office/drawing/2014/main" id="{C77E23F7-6D54-496F-695C-E6C95A688A14}"/>
              </a:ext>
            </a:extLst>
          </p:cNvPr>
          <p:cNvSpPr txBox="1"/>
          <p:nvPr/>
        </p:nvSpPr>
        <p:spPr>
          <a:xfrm>
            <a:off x="304111" y="779218"/>
            <a:ext cx="7652927" cy="2246769"/>
          </a:xfrm>
          <a:prstGeom prst="rect">
            <a:avLst/>
          </a:prstGeom>
          <a:noFill/>
        </p:spPr>
        <p:txBody>
          <a:bodyPr wrap="square">
            <a:spAutoFit/>
          </a:bodyPr>
          <a:lstStyle/>
          <a:p>
            <a:pPr algn="just"/>
            <a:r>
              <a:rPr lang="en-US" b="0" i="0" u="none" strike="noStrike" baseline="0" dirty="0">
                <a:latin typeface="+mn-lt"/>
              </a:rPr>
              <a:t>Our model has achieved a better result than anticipated on all three benchmark datasets. This demonstrates that by combining attention mechanisms like transformers with networks like LSTM we can achieve state-of-the-art results. The model has shown remarkable performance in all 3 </a:t>
            </a:r>
            <a:r>
              <a:rPr lang="en-IN" b="0" i="0" u="none" strike="noStrike" baseline="0" dirty="0">
                <a:latin typeface="+mn-lt"/>
              </a:rPr>
              <a:t>datasets.</a:t>
            </a:r>
          </a:p>
          <a:p>
            <a:pPr algn="just"/>
            <a:endParaRPr lang="en-IN" b="0" i="0" u="none" strike="noStrike" baseline="0" dirty="0">
              <a:latin typeface="+mn-lt"/>
            </a:endParaRPr>
          </a:p>
          <a:p>
            <a:pPr algn="just"/>
            <a:r>
              <a:rPr lang="en-US" b="0" i="0" u="none" strike="noStrike" baseline="0" dirty="0">
                <a:latin typeface="+mn-lt"/>
              </a:rPr>
              <a:t>The authors of ESC-50 and UrbanSound8k have recommended performing 5-fold and 10-fold cross-validation respectively to avoid incorrect results. To be specific use one of the folds of the dataset to test the model and the rest of the folds to train the model. Repeating this process for every fold and reporting the average of the results was the recommended procedure. So we have done the same and reported the average of all the folds.</a:t>
            </a:r>
            <a:endParaRPr lang="en-IN" dirty="0">
              <a:latin typeface="+mn-lt"/>
            </a:endParaRPr>
          </a:p>
        </p:txBody>
      </p:sp>
    </p:spTree>
    <p:extLst>
      <p:ext uri="{BB962C8B-B14F-4D97-AF65-F5344CB8AC3E}">
        <p14:creationId xmlns:p14="http://schemas.microsoft.com/office/powerpoint/2010/main" val="3492062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1F98C4E-09B5-23EE-4A88-1E51166A50AC}"/>
              </a:ext>
            </a:extLst>
          </p:cNvPr>
          <p:cNvPicPr>
            <a:picLocks noChangeAspect="1"/>
          </p:cNvPicPr>
          <p:nvPr/>
        </p:nvPicPr>
        <p:blipFill>
          <a:blip r:embed="rId2"/>
          <a:stretch>
            <a:fillRect/>
          </a:stretch>
        </p:blipFill>
        <p:spPr>
          <a:xfrm>
            <a:off x="131522" y="171332"/>
            <a:ext cx="5548308" cy="4800836"/>
          </a:xfrm>
          <a:prstGeom prst="rect">
            <a:avLst/>
          </a:prstGeom>
        </p:spPr>
      </p:pic>
      <p:sp>
        <p:nvSpPr>
          <p:cNvPr id="12" name="TextBox 11">
            <a:extLst>
              <a:ext uri="{FF2B5EF4-FFF2-40B4-BE49-F238E27FC236}">
                <a16:creationId xmlns:a16="http://schemas.microsoft.com/office/drawing/2014/main" id="{CD5AE7BD-9D6B-7418-37B4-57562515146B}"/>
              </a:ext>
            </a:extLst>
          </p:cNvPr>
          <p:cNvSpPr txBox="1"/>
          <p:nvPr/>
        </p:nvSpPr>
        <p:spPr>
          <a:xfrm>
            <a:off x="5943964" y="2883854"/>
            <a:ext cx="2690084" cy="523220"/>
          </a:xfrm>
          <a:prstGeom prst="rect">
            <a:avLst/>
          </a:prstGeom>
          <a:noFill/>
        </p:spPr>
        <p:txBody>
          <a:bodyPr wrap="square">
            <a:spAutoFit/>
          </a:bodyPr>
          <a:lstStyle/>
          <a:p>
            <a:r>
              <a:rPr lang="en-IN" sz="1400" dirty="0">
                <a:solidFill>
                  <a:srgbClr val="000000"/>
                </a:solidFill>
                <a:effectLst/>
                <a:latin typeface="Calibri" panose="020F0502020204030204" pitchFamily="34" charset="0"/>
                <a:ea typeface="Calibri" panose="020F0502020204030204" pitchFamily="34" charset="0"/>
              </a:rPr>
              <a:t>Confusion Matrix of the model on ESC-10 (10-classes)</a:t>
            </a:r>
            <a:endParaRPr lang="en-IN" dirty="0"/>
          </a:p>
        </p:txBody>
      </p:sp>
    </p:spTree>
    <p:extLst>
      <p:ext uri="{BB962C8B-B14F-4D97-AF65-F5344CB8AC3E}">
        <p14:creationId xmlns:p14="http://schemas.microsoft.com/office/powerpoint/2010/main" val="1557386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8455ECC-06E0-F98F-C83F-58ECB5B6B836}"/>
              </a:ext>
            </a:extLst>
          </p:cNvPr>
          <p:cNvPicPr>
            <a:picLocks noChangeAspect="1"/>
          </p:cNvPicPr>
          <p:nvPr/>
        </p:nvPicPr>
        <p:blipFill>
          <a:blip r:embed="rId2"/>
          <a:stretch>
            <a:fillRect/>
          </a:stretch>
        </p:blipFill>
        <p:spPr>
          <a:xfrm>
            <a:off x="131522" y="149469"/>
            <a:ext cx="5466747" cy="4730262"/>
          </a:xfrm>
          <a:prstGeom prst="rect">
            <a:avLst/>
          </a:prstGeom>
        </p:spPr>
      </p:pic>
      <p:sp>
        <p:nvSpPr>
          <p:cNvPr id="5" name="TextBox 4">
            <a:extLst>
              <a:ext uri="{FF2B5EF4-FFF2-40B4-BE49-F238E27FC236}">
                <a16:creationId xmlns:a16="http://schemas.microsoft.com/office/drawing/2014/main" id="{A104E3B9-49DD-C24E-E795-5329D5463ADA}"/>
              </a:ext>
            </a:extLst>
          </p:cNvPr>
          <p:cNvSpPr txBox="1"/>
          <p:nvPr/>
        </p:nvSpPr>
        <p:spPr>
          <a:xfrm>
            <a:off x="5987925" y="2802454"/>
            <a:ext cx="2813176" cy="528093"/>
          </a:xfrm>
          <a:prstGeom prst="rect">
            <a:avLst/>
          </a:prstGeom>
          <a:noFill/>
        </p:spPr>
        <p:txBody>
          <a:bodyPr wrap="square">
            <a:spAutoFit/>
          </a:bodyPr>
          <a:lstStyle/>
          <a:p>
            <a:pPr marL="0" marR="0" indent="0">
              <a:lnSpc>
                <a:spcPct val="103000"/>
              </a:lnSpc>
              <a:spcBef>
                <a:spcPts val="0"/>
              </a:spcBef>
              <a:spcAft>
                <a:spcPts val="50"/>
              </a:spcAft>
            </a:pPr>
            <a:r>
              <a:rPr lang="en-IN" sz="1400" kern="100" dirty="0">
                <a:solidFill>
                  <a:srgbClr val="000000"/>
                </a:solidFill>
                <a:effectLst/>
                <a:latin typeface="Calibri" panose="020F0502020204030204" pitchFamily="34" charset="0"/>
                <a:ea typeface="Calibri" panose="020F0502020204030204" pitchFamily="34" charset="0"/>
              </a:rPr>
              <a:t>Confusion Matrix of the model on UrbanSound8k (4</a:t>
            </a:r>
            <a:r>
              <a:rPr lang="en-IN" sz="1400" kern="100" baseline="30000" dirty="0">
                <a:solidFill>
                  <a:srgbClr val="000000"/>
                </a:solidFill>
                <a:effectLst/>
                <a:latin typeface="Calibri" panose="020F0502020204030204" pitchFamily="34" charset="0"/>
                <a:ea typeface="Calibri" panose="020F0502020204030204" pitchFamily="34" charset="0"/>
              </a:rPr>
              <a:t>th</a:t>
            </a:r>
            <a:r>
              <a:rPr lang="en-IN" sz="1400" kern="100" dirty="0">
                <a:solidFill>
                  <a:srgbClr val="000000"/>
                </a:solidFill>
                <a:effectLst/>
                <a:latin typeface="Calibri" panose="020F0502020204030204" pitchFamily="34" charset="0"/>
                <a:ea typeface="Calibri" panose="020F0502020204030204" pitchFamily="34" charset="0"/>
              </a:rPr>
              <a:t> fold)</a:t>
            </a:r>
          </a:p>
        </p:txBody>
      </p:sp>
    </p:spTree>
    <p:extLst>
      <p:ext uri="{BB962C8B-B14F-4D97-AF65-F5344CB8AC3E}">
        <p14:creationId xmlns:p14="http://schemas.microsoft.com/office/powerpoint/2010/main" val="272917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AF418C-C1CF-0FBA-BD94-536C19AD063B}"/>
              </a:ext>
            </a:extLst>
          </p:cNvPr>
          <p:cNvGraphicFramePr>
            <a:graphicFrameLocks noGrp="1"/>
          </p:cNvGraphicFramePr>
          <p:nvPr>
            <p:extLst>
              <p:ext uri="{D42A27DB-BD31-4B8C-83A1-F6EECF244321}">
                <p14:modId xmlns:p14="http://schemas.microsoft.com/office/powerpoint/2010/main" val="1493773273"/>
              </p:ext>
            </p:extLst>
          </p:nvPr>
        </p:nvGraphicFramePr>
        <p:xfrm>
          <a:off x="1543049" y="870439"/>
          <a:ext cx="5794132" cy="3780696"/>
        </p:xfrm>
        <a:graphic>
          <a:graphicData uri="http://schemas.openxmlformats.org/drawingml/2006/table">
            <a:tbl>
              <a:tblPr firstRow="1" firstCol="1" bandRow="1">
                <a:tableStyleId>{5CD24A03-3092-4579-8DE0-CCE6BD6100CB}</a:tableStyleId>
              </a:tblPr>
              <a:tblGrid>
                <a:gridCol w="2579152">
                  <a:extLst>
                    <a:ext uri="{9D8B030D-6E8A-4147-A177-3AD203B41FA5}">
                      <a16:colId xmlns:a16="http://schemas.microsoft.com/office/drawing/2014/main" val="2669155516"/>
                    </a:ext>
                  </a:extLst>
                </a:gridCol>
                <a:gridCol w="1071660">
                  <a:extLst>
                    <a:ext uri="{9D8B030D-6E8A-4147-A177-3AD203B41FA5}">
                      <a16:colId xmlns:a16="http://schemas.microsoft.com/office/drawing/2014/main" val="2025083849"/>
                    </a:ext>
                  </a:extLst>
                </a:gridCol>
                <a:gridCol w="1071660">
                  <a:extLst>
                    <a:ext uri="{9D8B030D-6E8A-4147-A177-3AD203B41FA5}">
                      <a16:colId xmlns:a16="http://schemas.microsoft.com/office/drawing/2014/main" val="2904030170"/>
                    </a:ext>
                  </a:extLst>
                </a:gridCol>
                <a:gridCol w="1071660">
                  <a:extLst>
                    <a:ext uri="{9D8B030D-6E8A-4147-A177-3AD203B41FA5}">
                      <a16:colId xmlns:a16="http://schemas.microsoft.com/office/drawing/2014/main" val="1183059929"/>
                    </a:ext>
                  </a:extLst>
                </a:gridCol>
              </a:tblGrid>
              <a:tr h="315058">
                <a:tc>
                  <a:txBody>
                    <a:bodyPr/>
                    <a:lstStyle/>
                    <a:p>
                      <a:pPr marL="0" marR="0" indent="0" algn="ctr">
                        <a:lnSpc>
                          <a:spcPct val="150000"/>
                        </a:lnSpc>
                        <a:spcBef>
                          <a:spcPts val="0"/>
                        </a:spcBef>
                        <a:spcAft>
                          <a:spcPts val="0"/>
                        </a:spcAft>
                      </a:pPr>
                      <a:r>
                        <a:rPr lang="en-IN" sz="1100" kern="100" dirty="0">
                          <a:effectLst/>
                        </a:rPr>
                        <a:t>Model</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ESC-10</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ESC-50</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US8K</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599343565"/>
                  </a:ext>
                </a:extLst>
              </a:tr>
              <a:tr h="315058">
                <a:tc>
                  <a:txBody>
                    <a:bodyPr/>
                    <a:lstStyle/>
                    <a:p>
                      <a:pPr marL="0" marR="0" indent="0" algn="ctr">
                        <a:lnSpc>
                          <a:spcPct val="150000"/>
                        </a:lnSpc>
                        <a:spcBef>
                          <a:spcPts val="0"/>
                        </a:spcBef>
                        <a:spcAft>
                          <a:spcPts val="0"/>
                        </a:spcAft>
                      </a:pPr>
                      <a:r>
                        <a:rPr lang="en-IN" sz="1100" kern="100" dirty="0">
                          <a:effectLst/>
                        </a:rPr>
                        <a:t>Attention + CRNN [4]</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93.7</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86.1</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706053763"/>
                  </a:ext>
                </a:extLst>
              </a:tr>
              <a:tr h="315058">
                <a:tc>
                  <a:txBody>
                    <a:bodyPr/>
                    <a:lstStyle/>
                    <a:p>
                      <a:pPr marL="0" marR="0" indent="0" algn="ctr">
                        <a:lnSpc>
                          <a:spcPct val="150000"/>
                        </a:lnSpc>
                        <a:spcBef>
                          <a:spcPts val="0"/>
                        </a:spcBef>
                        <a:spcAft>
                          <a:spcPts val="0"/>
                        </a:spcAft>
                      </a:pPr>
                      <a:r>
                        <a:rPr lang="en-IN" sz="1100" kern="100" dirty="0">
                          <a:effectLst/>
                        </a:rPr>
                        <a:t>FPAM [5]</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99.3</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91.6</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1350658902"/>
                  </a:ext>
                </a:extLst>
              </a:tr>
              <a:tr h="315058">
                <a:tc>
                  <a:txBody>
                    <a:bodyPr/>
                    <a:lstStyle/>
                    <a:p>
                      <a:pPr marL="0" marR="0" indent="0" algn="ctr">
                        <a:lnSpc>
                          <a:spcPct val="150000"/>
                        </a:lnSpc>
                        <a:spcBef>
                          <a:spcPts val="0"/>
                        </a:spcBef>
                        <a:spcAft>
                          <a:spcPts val="0"/>
                        </a:spcAft>
                      </a:pPr>
                      <a:r>
                        <a:rPr lang="en-IN" sz="1100" kern="100" dirty="0">
                          <a:effectLst/>
                        </a:rPr>
                        <a:t>Hybrid Ensemble Model [6]</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70</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79.4</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1233794143"/>
                  </a:ext>
                </a:extLst>
              </a:tr>
              <a:tr h="315058">
                <a:tc>
                  <a:txBody>
                    <a:bodyPr/>
                    <a:lstStyle/>
                    <a:p>
                      <a:pPr marL="0" marR="0" indent="0" algn="ctr">
                        <a:lnSpc>
                          <a:spcPct val="150000"/>
                        </a:lnSpc>
                        <a:spcBef>
                          <a:spcPts val="0"/>
                        </a:spcBef>
                        <a:spcAft>
                          <a:spcPts val="0"/>
                        </a:spcAft>
                      </a:pPr>
                      <a:r>
                        <a:rPr lang="en-IN" sz="1100" kern="100" dirty="0">
                          <a:effectLst/>
                        </a:rPr>
                        <a:t>CRNN + MFCC [7]</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93.58</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2688674628"/>
                  </a:ext>
                </a:extLst>
              </a:tr>
              <a:tr h="315058">
                <a:tc>
                  <a:txBody>
                    <a:bodyPr/>
                    <a:lstStyle/>
                    <a:p>
                      <a:pPr marL="0" marR="0" indent="0" algn="ctr">
                        <a:lnSpc>
                          <a:spcPct val="150000"/>
                        </a:lnSpc>
                        <a:spcBef>
                          <a:spcPts val="0"/>
                        </a:spcBef>
                        <a:spcAft>
                          <a:spcPts val="0"/>
                        </a:spcAft>
                      </a:pPr>
                      <a:r>
                        <a:rPr lang="en-IN" sz="1100" kern="100">
                          <a:effectLst/>
                        </a:rPr>
                        <a:t>AST [12]</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98.11</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1623701291"/>
                  </a:ext>
                </a:extLst>
              </a:tr>
              <a:tr h="315058">
                <a:tc>
                  <a:txBody>
                    <a:bodyPr/>
                    <a:lstStyle/>
                    <a:p>
                      <a:pPr marL="0" marR="0" indent="0" algn="ctr">
                        <a:lnSpc>
                          <a:spcPct val="150000"/>
                        </a:lnSpc>
                        <a:spcBef>
                          <a:spcPts val="0"/>
                        </a:spcBef>
                        <a:spcAft>
                          <a:spcPts val="0"/>
                        </a:spcAft>
                      </a:pPr>
                      <a:r>
                        <a:rPr lang="en-IN" sz="1100" kern="100">
                          <a:effectLst/>
                        </a:rPr>
                        <a:t>CAT [9]</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86.7</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96.1</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1680759101"/>
                  </a:ext>
                </a:extLst>
              </a:tr>
              <a:tr h="315058">
                <a:tc>
                  <a:txBody>
                    <a:bodyPr/>
                    <a:lstStyle/>
                    <a:p>
                      <a:pPr marL="0" marR="0" indent="0" algn="ctr">
                        <a:lnSpc>
                          <a:spcPct val="150000"/>
                        </a:lnSpc>
                        <a:spcBef>
                          <a:spcPts val="0"/>
                        </a:spcBef>
                        <a:spcAft>
                          <a:spcPts val="0"/>
                        </a:spcAft>
                      </a:pPr>
                      <a:r>
                        <a:rPr lang="en-IN" sz="1100" kern="100" dirty="0" err="1">
                          <a:effectLst/>
                        </a:rPr>
                        <a:t>SemanticAC</a:t>
                      </a:r>
                      <a:r>
                        <a:rPr lang="en-IN" sz="1100" kern="100" dirty="0">
                          <a:effectLst/>
                        </a:rPr>
                        <a:t> [10]</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97.25</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91.34</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3500870838"/>
                  </a:ext>
                </a:extLst>
              </a:tr>
              <a:tr h="315058">
                <a:tc>
                  <a:txBody>
                    <a:bodyPr/>
                    <a:lstStyle/>
                    <a:p>
                      <a:pPr marL="0" marR="0" indent="0" algn="ctr">
                        <a:lnSpc>
                          <a:spcPct val="150000"/>
                        </a:lnSpc>
                        <a:spcBef>
                          <a:spcPts val="0"/>
                        </a:spcBef>
                        <a:spcAft>
                          <a:spcPts val="0"/>
                        </a:spcAft>
                      </a:pPr>
                      <a:r>
                        <a:rPr lang="en-IN" sz="1100" kern="100">
                          <a:effectLst/>
                        </a:rPr>
                        <a:t>ESResNet [8]</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97.0</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91.5</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84.2</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3088325372"/>
                  </a:ext>
                </a:extLst>
              </a:tr>
              <a:tr h="315058">
                <a:tc>
                  <a:txBody>
                    <a:bodyPr/>
                    <a:lstStyle/>
                    <a:p>
                      <a:pPr marL="0" marR="0" indent="0" algn="ctr">
                        <a:lnSpc>
                          <a:spcPct val="150000"/>
                        </a:lnSpc>
                        <a:spcBef>
                          <a:spcPts val="0"/>
                        </a:spcBef>
                        <a:spcAft>
                          <a:spcPts val="0"/>
                        </a:spcAft>
                      </a:pPr>
                      <a:r>
                        <a:rPr lang="en-IN" sz="1100" kern="100">
                          <a:effectLst/>
                        </a:rPr>
                        <a:t>RSA [11]</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97.8</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96.25</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93.31</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1792553552"/>
                  </a:ext>
                </a:extLst>
              </a:tr>
              <a:tr h="315058">
                <a:tc>
                  <a:txBody>
                    <a:bodyPr/>
                    <a:lstStyle/>
                    <a:p>
                      <a:pPr marL="0" marR="0" indent="0" algn="ctr">
                        <a:lnSpc>
                          <a:spcPct val="150000"/>
                        </a:lnSpc>
                        <a:spcBef>
                          <a:spcPts val="0"/>
                        </a:spcBef>
                        <a:spcAft>
                          <a:spcPts val="0"/>
                        </a:spcAft>
                      </a:pPr>
                      <a:r>
                        <a:rPr lang="en-IN" sz="1100" kern="100">
                          <a:effectLst/>
                        </a:rPr>
                        <a:t>CNN + PSO [17]</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98.64</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93.71</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98.45</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2936043960"/>
                  </a:ext>
                </a:extLst>
              </a:tr>
              <a:tr h="315058">
                <a:tc>
                  <a:txBody>
                    <a:bodyPr/>
                    <a:lstStyle/>
                    <a:p>
                      <a:pPr marL="0" marR="0" indent="0" algn="ctr">
                        <a:lnSpc>
                          <a:spcPct val="150000"/>
                        </a:lnSpc>
                        <a:spcBef>
                          <a:spcPts val="0"/>
                        </a:spcBef>
                        <a:spcAft>
                          <a:spcPts val="0"/>
                        </a:spcAft>
                      </a:pPr>
                      <a:r>
                        <a:rPr lang="en-IN" sz="1100" kern="100">
                          <a:effectLst/>
                        </a:rPr>
                        <a:t>Our Approach</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99.99</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a:effectLst/>
                        </a:rPr>
                        <a:t>99.99</a:t>
                      </a:r>
                      <a:endParaRPr lang="en-IN"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tc>
                  <a:txBody>
                    <a:bodyPr/>
                    <a:lstStyle/>
                    <a:p>
                      <a:pPr marL="0" marR="0" indent="0" algn="ctr">
                        <a:lnSpc>
                          <a:spcPct val="150000"/>
                        </a:lnSpc>
                        <a:spcBef>
                          <a:spcPts val="0"/>
                        </a:spcBef>
                        <a:spcAft>
                          <a:spcPts val="0"/>
                        </a:spcAft>
                      </a:pPr>
                      <a:r>
                        <a:rPr lang="en-IN" sz="1100" kern="100" dirty="0">
                          <a:effectLst/>
                        </a:rPr>
                        <a:t>99.6</a:t>
                      </a:r>
                      <a:endParaRPr lang="en-IN"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52070" marB="0"/>
                </a:tc>
                <a:extLst>
                  <a:ext uri="{0D108BD9-81ED-4DB2-BD59-A6C34878D82A}">
                    <a16:rowId xmlns:a16="http://schemas.microsoft.com/office/drawing/2014/main" val="333377996"/>
                  </a:ext>
                </a:extLst>
              </a:tr>
            </a:tbl>
          </a:graphicData>
        </a:graphic>
      </p:graphicFrame>
      <p:sp>
        <p:nvSpPr>
          <p:cNvPr id="3" name="TextBox 2">
            <a:extLst>
              <a:ext uri="{FF2B5EF4-FFF2-40B4-BE49-F238E27FC236}">
                <a16:creationId xmlns:a16="http://schemas.microsoft.com/office/drawing/2014/main" id="{AC44B07D-FFCC-F07E-79E9-D67B7387EC5C}"/>
              </a:ext>
            </a:extLst>
          </p:cNvPr>
          <p:cNvSpPr txBox="1"/>
          <p:nvPr/>
        </p:nvSpPr>
        <p:spPr>
          <a:xfrm>
            <a:off x="1354104" y="228596"/>
            <a:ext cx="6638013" cy="369332"/>
          </a:xfrm>
          <a:prstGeom prst="rect">
            <a:avLst/>
          </a:prstGeom>
          <a:noFill/>
        </p:spPr>
        <p:txBody>
          <a:bodyPr wrap="square">
            <a:spAutoFit/>
          </a:bodyPr>
          <a:lstStyle/>
          <a:p>
            <a:r>
              <a:rPr lang="en-IN" sz="1800" dirty="0">
                <a:solidFill>
                  <a:srgbClr val="000000"/>
                </a:solidFill>
                <a:effectLst/>
                <a:latin typeface="Calibri" panose="020F0502020204030204" pitchFamily="34" charset="0"/>
                <a:ea typeface="Calibri" panose="020F0502020204030204" pitchFamily="34" charset="0"/>
              </a:rPr>
              <a:t>Comparison of Results with existing models in terms of Accuracy %</a:t>
            </a:r>
            <a:endParaRPr lang="en-IN" dirty="0"/>
          </a:p>
        </p:txBody>
      </p:sp>
    </p:spTree>
    <p:extLst>
      <p:ext uri="{BB962C8B-B14F-4D97-AF65-F5344CB8AC3E}">
        <p14:creationId xmlns:p14="http://schemas.microsoft.com/office/powerpoint/2010/main" val="3280219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4757-96BF-FC86-C296-EB0520B76343}"/>
              </a:ext>
            </a:extLst>
          </p:cNvPr>
          <p:cNvSpPr>
            <a:spLocks noGrp="1"/>
          </p:cNvSpPr>
          <p:nvPr>
            <p:ph type="title"/>
          </p:nvPr>
        </p:nvSpPr>
        <p:spPr>
          <a:xfrm>
            <a:off x="242032" y="445025"/>
            <a:ext cx="4321260" cy="572700"/>
          </a:xfrm>
        </p:spPr>
        <p:txBody>
          <a:bodyPr>
            <a:normAutofit/>
          </a:bodyPr>
          <a:lstStyle/>
          <a:p>
            <a:r>
              <a:rPr lang="en-IN" sz="2400" b="1" dirty="0">
                <a:solidFill>
                  <a:schemeClr val="tx1"/>
                </a:solidFill>
                <a:latin typeface="+mn-lt"/>
                <a:ea typeface="Aptos" panose="020B0004020202020204" pitchFamily="34" charset="0"/>
                <a:cs typeface="Times New Roman" panose="02020603050405020304" pitchFamily="18" charset="0"/>
              </a:rPr>
              <a:t>CONCLUSION</a:t>
            </a:r>
            <a:endParaRPr lang="en-IN" sz="2400" dirty="0">
              <a:solidFill>
                <a:schemeClr val="tx1"/>
              </a:solidFill>
              <a:latin typeface="+mn-lt"/>
            </a:endParaRPr>
          </a:p>
        </p:txBody>
      </p:sp>
      <p:sp>
        <p:nvSpPr>
          <p:cNvPr id="5" name="Rectangle 2">
            <a:extLst>
              <a:ext uri="{FF2B5EF4-FFF2-40B4-BE49-F238E27FC236}">
                <a16:creationId xmlns:a16="http://schemas.microsoft.com/office/drawing/2014/main" id="{CD36CEED-06D6-DAE5-760C-BF65EB7DC326}"/>
              </a:ext>
            </a:extLst>
          </p:cNvPr>
          <p:cNvSpPr>
            <a:spLocks noGrp="1" noChangeArrowheads="1"/>
          </p:cNvSpPr>
          <p:nvPr>
            <p:ph type="body" idx="1"/>
          </p:nvPr>
        </p:nvSpPr>
        <p:spPr bwMode="auto">
          <a:xfrm>
            <a:off x="320409" y="1225187"/>
            <a:ext cx="827846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lgn="just">
              <a:lnSpc>
                <a:spcPct val="150000"/>
              </a:lnSpc>
              <a:buNone/>
            </a:pPr>
            <a:r>
              <a:rPr lang="en-US" sz="1400" b="0" i="0" u="none" strike="noStrike" baseline="0" dirty="0">
                <a:solidFill>
                  <a:schemeClr val="tx1"/>
                </a:solidFill>
                <a:latin typeface="+mn-lt"/>
              </a:rPr>
              <a:t>In this project, we present an approach that uses the Audio </a:t>
            </a:r>
            <a:r>
              <a:rPr lang="en-IN" sz="1400" b="0" i="0" u="none" strike="noStrike" baseline="0" dirty="0">
                <a:solidFill>
                  <a:schemeClr val="tx1"/>
                </a:solidFill>
                <a:latin typeface="+mn-lt"/>
              </a:rPr>
              <a:t>Spectrogram Transformer pre-trained on </a:t>
            </a:r>
            <a:r>
              <a:rPr lang="en-IN" sz="1400" b="0" i="0" u="none" strike="noStrike" baseline="0" dirty="0" err="1">
                <a:solidFill>
                  <a:schemeClr val="tx1"/>
                </a:solidFill>
                <a:latin typeface="+mn-lt"/>
              </a:rPr>
              <a:t>Audioset</a:t>
            </a:r>
            <a:r>
              <a:rPr lang="en-IN" sz="1400" dirty="0">
                <a:solidFill>
                  <a:schemeClr val="tx1"/>
                </a:solidFill>
                <a:latin typeface="+mn-lt"/>
              </a:rPr>
              <a:t> </a:t>
            </a:r>
            <a:r>
              <a:rPr lang="en-IN" sz="1400" b="0" i="0" u="none" strike="noStrike" baseline="0" dirty="0">
                <a:solidFill>
                  <a:schemeClr val="tx1"/>
                </a:solidFill>
                <a:latin typeface="+mn-lt"/>
              </a:rPr>
              <a:t>combined </a:t>
            </a:r>
            <a:r>
              <a:rPr lang="en-US" sz="1400" b="0" i="0" u="none" strike="noStrike" baseline="0" dirty="0">
                <a:solidFill>
                  <a:schemeClr val="tx1"/>
                </a:solidFill>
                <a:latin typeface="+mn-lt"/>
              </a:rPr>
              <a:t>with a sequential block containing LSTM, Linear, and Dropout layers. The proposed model was tested on ESC-10, ESC-50, and UrbanSound8k datasets. We achieved success rates of 99.99% on ESC-10, 99.99% on ESC-50, and 99.6% on UrbanSound8k. This was done using a complete attention-based</a:t>
            </a:r>
            <a:r>
              <a:rPr lang="en-US" sz="1400" dirty="0">
                <a:solidFill>
                  <a:schemeClr val="tx1"/>
                </a:solidFill>
                <a:latin typeface="+mn-lt"/>
              </a:rPr>
              <a:t> </a:t>
            </a:r>
            <a:r>
              <a:rPr lang="en-US" sz="1400" b="0" i="0" u="none" strike="noStrike" baseline="0" dirty="0">
                <a:solidFill>
                  <a:schemeClr val="tx1"/>
                </a:solidFill>
                <a:latin typeface="+mn-lt"/>
              </a:rPr>
              <a:t>approach without convolutional layers. This proves that we can achieve state-of-the-art results on ESC using attention-based architectures like transformers just like how they were </a:t>
            </a:r>
            <a:r>
              <a:rPr lang="en-IN" sz="1400" b="0" i="0" u="none" strike="noStrike" baseline="0" dirty="0">
                <a:solidFill>
                  <a:schemeClr val="tx1"/>
                </a:solidFill>
                <a:latin typeface="+mn-lt"/>
              </a:rPr>
              <a:t>used for Image Classification.</a:t>
            </a:r>
          </a:p>
          <a:p>
            <a:pPr marL="114300" indent="0" algn="just">
              <a:lnSpc>
                <a:spcPct val="150000"/>
              </a:lnSpc>
              <a:buNone/>
            </a:pPr>
            <a:endParaRPr kumimoji="0" lang="en-US" altLang="en-US" sz="1400" b="0" i="0" u="none" strike="noStrike" cap="none" normalizeH="0" baseline="0" dirty="0">
              <a:ln>
                <a:noFill/>
              </a:ln>
              <a:solidFill>
                <a:schemeClr val="tx1"/>
              </a:solidFill>
              <a:effectLst/>
              <a:latin typeface="+mn-lt"/>
            </a:endParaRPr>
          </a:p>
          <a:p>
            <a:pPr marL="114300" indent="0" algn="just">
              <a:lnSpc>
                <a:spcPct val="150000"/>
              </a:lnSpc>
              <a:buNone/>
            </a:pPr>
            <a:r>
              <a:rPr lang="en-US" sz="1400" b="0" i="0" u="none" strike="noStrike" baseline="0" dirty="0">
                <a:solidFill>
                  <a:schemeClr val="tx1"/>
                </a:solidFill>
                <a:latin typeface="+mn-lt"/>
              </a:rPr>
              <a:t>In the future, we intend to study the ways to make our proposed model computationally less complex. This will make the deployment of the model on Edge devices easier.</a:t>
            </a:r>
            <a:endParaRPr kumimoji="0" lang="en-US" altLang="en-US" sz="11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660573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extBox 5">
            <a:extLst>
              <a:ext uri="{FF2B5EF4-FFF2-40B4-BE49-F238E27FC236}">
                <a16:creationId xmlns:a16="http://schemas.microsoft.com/office/drawing/2014/main" id="{F57F4BBF-CABC-251B-8CA1-F882B436C7A4}"/>
              </a:ext>
            </a:extLst>
          </p:cNvPr>
          <p:cNvSpPr txBox="1"/>
          <p:nvPr/>
        </p:nvSpPr>
        <p:spPr>
          <a:xfrm>
            <a:off x="259493" y="259189"/>
            <a:ext cx="7970108" cy="461665"/>
          </a:xfrm>
          <a:prstGeom prst="rect">
            <a:avLst/>
          </a:prstGeom>
          <a:noFill/>
        </p:spPr>
        <p:txBody>
          <a:bodyPr wrap="square">
            <a:spAutoFit/>
          </a:bodyPr>
          <a:lstStyle/>
          <a:p>
            <a:r>
              <a:rPr lang="en-IN" sz="2400" b="1" i="0" u="none" strike="noStrike" baseline="0" dirty="0">
                <a:solidFill>
                  <a:schemeClr val="tx1"/>
                </a:solidFill>
                <a:latin typeface="+mj-lt"/>
              </a:rPr>
              <a:t>References</a:t>
            </a:r>
          </a:p>
        </p:txBody>
      </p:sp>
      <p:sp>
        <p:nvSpPr>
          <p:cNvPr id="3" name="TextBox 2">
            <a:extLst>
              <a:ext uri="{FF2B5EF4-FFF2-40B4-BE49-F238E27FC236}">
                <a16:creationId xmlns:a16="http://schemas.microsoft.com/office/drawing/2014/main" id="{731B0CF5-E42D-4AF3-9AFE-C942D1D02FC7}"/>
              </a:ext>
            </a:extLst>
          </p:cNvPr>
          <p:cNvSpPr txBox="1"/>
          <p:nvPr/>
        </p:nvSpPr>
        <p:spPr>
          <a:xfrm>
            <a:off x="259493" y="889217"/>
            <a:ext cx="7759092" cy="3803605"/>
          </a:xfrm>
          <a:prstGeom prst="rect">
            <a:avLst/>
          </a:prstGeom>
          <a:noFill/>
        </p:spPr>
        <p:txBody>
          <a:bodyPr wrap="square">
            <a:spAutoFit/>
          </a:bodyPr>
          <a:lstStyle/>
          <a:p>
            <a:pPr marL="342900" marR="0" lvl="0" indent="-342900" algn="just" fontAlgn="base">
              <a:lnSpc>
                <a:spcPct val="95000"/>
              </a:lnSpc>
              <a:spcBef>
                <a:spcPts val="0"/>
              </a:spcBef>
              <a:spcAft>
                <a:spcPts val="970"/>
              </a:spcAft>
              <a:buClr>
                <a:srgbClr val="000000"/>
              </a:buClr>
              <a:buSzPct val="60000"/>
              <a:buFont typeface="+mj-lt"/>
              <a:buAutoNum type="arabicPeriod"/>
            </a:pP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K. Zaman, M. Sah, C.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Direkoglu</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and M.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Unoki</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”A Survey of Audio Classification Using Deep Learning,” in IEEE Access, vol. 11, pp. 106620-106649, 2023,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doi</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10.1109/ACCESS.2023.3318015.</a:t>
            </a:r>
          </a:p>
          <a:p>
            <a:pPr marL="342900" marR="0" lvl="0" indent="-342900" algn="just" fontAlgn="base">
              <a:lnSpc>
                <a:spcPct val="95000"/>
              </a:lnSpc>
              <a:spcBef>
                <a:spcPts val="0"/>
              </a:spcBef>
              <a:spcAft>
                <a:spcPts val="970"/>
              </a:spcAft>
              <a:buClr>
                <a:srgbClr val="000000"/>
              </a:buClr>
              <a:buSzPct val="60000"/>
              <a:buFont typeface="+mj-lt"/>
              <a:buAutoNum type="arabicPeriod"/>
            </a:pP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K. J.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Piczak</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”Environmental sound classification with convolutional neural networks,” 2015 IEEE 25th International Workshop on Machine Learning for Signal Processing (MLSP), Boston, MA, USA, 2015, pp. 1-6,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doi</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10.1109/MLSP.2015.7324337</a:t>
            </a:r>
          </a:p>
          <a:p>
            <a:pPr marL="342900" marR="0" lvl="0" indent="-342900" algn="just" fontAlgn="base">
              <a:lnSpc>
                <a:spcPct val="95000"/>
              </a:lnSpc>
              <a:spcBef>
                <a:spcPts val="0"/>
              </a:spcBef>
              <a:spcAft>
                <a:spcPts val="970"/>
              </a:spcAft>
              <a:buClr>
                <a:srgbClr val="000000"/>
              </a:buClr>
              <a:buSzPct val="60000"/>
              <a:buFont typeface="+mj-lt"/>
              <a:buAutoNum type="arabicPeriod"/>
            </a:pP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 Vaswani, N.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Shazeer</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N. Parmar, J.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Uszkoreit</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L. Jones, A. N. Gomez, L. Kaiser, and I.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Polosukhin</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“Attention is all you need,” in NIPS, 2017.</a:t>
            </a:r>
          </a:p>
          <a:p>
            <a:pPr marL="342900" marR="0" lvl="0" indent="-342900" algn="just" fontAlgn="base">
              <a:lnSpc>
                <a:spcPct val="95000"/>
              </a:lnSpc>
              <a:spcBef>
                <a:spcPts val="0"/>
              </a:spcBef>
              <a:spcAft>
                <a:spcPts val="970"/>
              </a:spcAft>
              <a:buClr>
                <a:srgbClr val="000000"/>
              </a:buClr>
              <a:buSzPct val="60000"/>
              <a:buFont typeface="+mj-lt"/>
              <a:buAutoNum type="arabicPeriod"/>
            </a:pP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Zhichao</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Zhang,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Shugong</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Xu,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Shunqing</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Zhang,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Tianhao</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Qiao</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Shan Cao, Attention based convolutional recurrent neural network for environmental sound classification, Neurocomputing, Volume 453, 2021, Pages 896-903, ISSN 0925-2312, https://doi.org/10.1016/j.neucom.2020.08.069.</a:t>
            </a:r>
          </a:p>
          <a:p>
            <a:pPr marL="342900" marR="0" lvl="0" indent="-342900" algn="just" fontAlgn="base">
              <a:lnSpc>
                <a:spcPct val="95000"/>
              </a:lnSpc>
              <a:spcBef>
                <a:spcPts val="0"/>
              </a:spcBef>
              <a:spcAft>
                <a:spcPts val="970"/>
              </a:spcAft>
              <a:buClr>
                <a:srgbClr val="000000"/>
              </a:buClr>
              <a:buSzPct val="60000"/>
              <a:buFont typeface="+mj-lt"/>
              <a:buAutoNum type="arabicPeriod"/>
            </a:pP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Liguang</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Zhou, </a:t>
            </a:r>
            <a:r>
              <a:rPr lang="en-IN" u="none" strike="noStrike" kern="100"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Yuhongze</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Zhou, et al, ”Feature Pyramid Attention based Residual Neural Network for Environmental Sound Classification,” 2022, https://doi.org/10.48550/arXiv.2205.14411</a:t>
            </a:r>
          </a:p>
          <a:p>
            <a:pPr marL="342900" marR="0" lvl="0" indent="-342900" algn="just" fontAlgn="base">
              <a:lnSpc>
                <a:spcPct val="95000"/>
              </a:lnSpc>
              <a:spcBef>
                <a:spcPts val="0"/>
              </a:spcBef>
              <a:spcAft>
                <a:spcPts val="100"/>
              </a:spcAft>
              <a:buClr>
                <a:srgbClr val="000000"/>
              </a:buClr>
              <a:buSzPct val="60000"/>
              <a:buFont typeface="+mj-lt"/>
              <a:buAutoNum type="arabicPeriod"/>
            </a:pP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Anam	Bansal,</a:t>
            </a:r>
            <a:r>
              <a:rPr lang="en-IN" kern="100" dirty="0">
                <a:uFill>
                  <a:solidFill>
                    <a:srgbClr val="000000"/>
                  </a:solidFill>
                </a:uFill>
                <a:latin typeface="Calibri" panose="020F0502020204030204" pitchFamily="34" charset="0"/>
                <a:ea typeface="Calibri" panose="020F0502020204030204" pitchFamily="34" charset="0"/>
                <a:cs typeface="Calibri" panose="020F0502020204030204" pitchFamily="34" charset="0"/>
              </a:rPr>
              <a:t> </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Naresh</a:t>
            </a:r>
            <a:r>
              <a:rPr lang="en-IN" kern="100" dirty="0">
                <a:uFill>
                  <a:solidFill>
                    <a:srgbClr val="000000"/>
                  </a:solidFill>
                </a:uFill>
                <a:latin typeface="Calibri" panose="020F0502020204030204" pitchFamily="34" charset="0"/>
                <a:ea typeface="Calibri" panose="020F0502020204030204" pitchFamily="34" charset="0"/>
                <a:cs typeface="Calibri" panose="020F0502020204030204" pitchFamily="34" charset="0"/>
              </a:rPr>
              <a:t> </a:t>
            </a:r>
            <a:r>
              <a:rPr lang="en-IN"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Kumar Garg, Environmental  Sound</a:t>
            </a:r>
            <a:r>
              <a:rPr lang="en-IN" kern="100" dirty="0">
                <a:uFill>
                  <a:solidFill>
                    <a:srgbClr val="000000"/>
                  </a:solidFill>
                </a:uFill>
                <a:latin typeface="Calibri" panose="020F0502020204030204" pitchFamily="34" charset="0"/>
                <a:ea typeface="Calibri" panose="020F0502020204030204" pitchFamily="34" charset="0"/>
                <a:cs typeface="Calibri" panose="020F0502020204030204" pitchFamily="34" charset="0"/>
              </a:rPr>
              <a:t> </a:t>
            </a:r>
            <a:r>
              <a:rPr lang="en-IN" kern="100" dirty="0">
                <a:solidFill>
                  <a:srgbClr val="000000"/>
                </a:solidFill>
                <a:effectLst/>
                <a:latin typeface="Calibri" panose="020F0502020204030204" pitchFamily="34" charset="0"/>
                <a:ea typeface="Calibri" panose="020F0502020204030204" pitchFamily="34" charset="0"/>
              </a:rPr>
              <a:t>Classification using Hybrid Ensemble Model, Procedia Computer Science, Volume 218, 2023, Pages 418-428, ISSN 1877-0509, https://doi.org/10.1016/j.procs.2023.01.024.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896FCC-2997-091A-ADE6-4CF0B63A89EC}"/>
              </a:ext>
            </a:extLst>
          </p:cNvPr>
          <p:cNvSpPr txBox="1"/>
          <p:nvPr/>
        </p:nvSpPr>
        <p:spPr>
          <a:xfrm>
            <a:off x="228600" y="265510"/>
            <a:ext cx="7816362" cy="4401205"/>
          </a:xfrm>
          <a:prstGeom prst="rect">
            <a:avLst/>
          </a:prstGeom>
          <a:noFill/>
        </p:spPr>
        <p:txBody>
          <a:bodyPr wrap="square">
            <a:spAutoFit/>
          </a:bodyPr>
          <a:lstStyle/>
          <a:p>
            <a:pPr marL="342900" indent="-342900" algn="l">
              <a:buFont typeface="+mj-lt"/>
              <a:buAutoNum type="arabicPeriod" startAt="7"/>
            </a:pPr>
            <a:r>
              <a:rPr lang="en-US" sz="1400" b="0" i="0" u="none" strike="noStrike" baseline="0" dirty="0">
                <a:latin typeface="NimbusRomNo9L-Regu"/>
              </a:rPr>
              <a:t>Bansal, A., Garg, N.K. Robust technique for environmental sound </a:t>
            </a:r>
            <a:r>
              <a:rPr lang="en-IN" sz="1400" b="0" i="0" u="none" strike="noStrike" baseline="0" dirty="0">
                <a:latin typeface="NimbusRomNo9L-Regu"/>
              </a:rPr>
              <a:t>classification using convolutional recurrent neural network. </a:t>
            </a:r>
            <a:r>
              <a:rPr lang="en-IN" sz="1400" b="0" i="0" u="none" strike="noStrike" baseline="0" dirty="0" err="1">
                <a:latin typeface="NimbusRomNo9L-Regu"/>
              </a:rPr>
              <a:t>Multimed</a:t>
            </a:r>
            <a:r>
              <a:rPr lang="en-IN" dirty="0">
                <a:latin typeface="NimbusRomNo9L-Regu"/>
              </a:rPr>
              <a:t> </a:t>
            </a:r>
            <a:r>
              <a:rPr lang="en-US" sz="1400" b="0" i="0" u="none" strike="noStrike" baseline="0" dirty="0">
                <a:latin typeface="NimbusRomNo9L-Regu"/>
              </a:rPr>
              <a:t>Tools Appl 83, 54755–54772 (2024). </a:t>
            </a:r>
            <a:r>
              <a:rPr lang="en-US" sz="1400" b="0" i="0" u="none" strike="noStrike" baseline="0" dirty="0">
                <a:latin typeface="NimbusRomNo9L-Regu"/>
                <a:hlinkClick r:id="rId2"/>
              </a:rPr>
              <a:t>https://doi.org/10.1007/s11042- </a:t>
            </a:r>
            <a:r>
              <a:rPr lang="en-IN" sz="1400" b="0" i="0" u="none" strike="noStrike" baseline="0" dirty="0">
                <a:latin typeface="NimbusRomNo9L-Regu"/>
                <a:hlinkClick r:id="rId2"/>
              </a:rPr>
              <a:t>023-17066-2</a:t>
            </a:r>
            <a:endParaRPr lang="en-IN" sz="1400" b="0" i="0" u="none" strike="noStrike" baseline="0" dirty="0">
              <a:latin typeface="NimbusRomNo9L-Regu"/>
            </a:endParaRPr>
          </a:p>
          <a:p>
            <a:pPr marL="342900" indent="-342900" algn="l">
              <a:buFont typeface="+mj-lt"/>
              <a:buAutoNum type="arabicPeriod" startAt="7"/>
            </a:pPr>
            <a:endParaRPr lang="en-IN" sz="1400" b="0" i="0" u="none" strike="noStrike" baseline="0" dirty="0">
              <a:latin typeface="NimbusRomNo9L-Regu"/>
            </a:endParaRPr>
          </a:p>
          <a:p>
            <a:pPr marL="342900" indent="-342900" algn="l">
              <a:buFont typeface="+mj-lt"/>
              <a:buAutoNum type="arabicPeriod" startAt="7"/>
            </a:pPr>
            <a:r>
              <a:rPr lang="en-IN" sz="1400" b="0" i="0" u="none" strike="noStrike" baseline="0" dirty="0">
                <a:latin typeface="NimbusRomNo9L-Regu"/>
              </a:rPr>
              <a:t>A. </a:t>
            </a:r>
            <a:r>
              <a:rPr lang="en-IN" sz="1400" b="0" i="0" u="none" strike="noStrike" baseline="0" dirty="0" err="1">
                <a:latin typeface="NimbusRomNo9L-Regu"/>
              </a:rPr>
              <a:t>Guzhov</a:t>
            </a:r>
            <a:r>
              <a:rPr lang="en-IN" sz="1400" b="0" i="0" u="none" strike="noStrike" baseline="0" dirty="0">
                <a:latin typeface="NimbusRomNo9L-Regu"/>
              </a:rPr>
              <a:t>, F. </a:t>
            </a:r>
            <a:r>
              <a:rPr lang="en-IN" sz="1400" b="0" i="0" u="none" strike="noStrike" baseline="0" dirty="0" err="1">
                <a:latin typeface="NimbusRomNo9L-Regu"/>
              </a:rPr>
              <a:t>Raue</a:t>
            </a:r>
            <a:r>
              <a:rPr lang="en-IN" sz="1400" b="0" i="0" u="none" strike="noStrike" baseline="0" dirty="0">
                <a:latin typeface="NimbusRomNo9L-Regu"/>
              </a:rPr>
              <a:t>, J. </a:t>
            </a:r>
            <a:r>
              <a:rPr lang="en-IN" sz="1400" b="0" i="0" u="none" strike="noStrike" baseline="0" dirty="0" err="1">
                <a:latin typeface="NimbusRomNo9L-Regu"/>
              </a:rPr>
              <a:t>Hees</a:t>
            </a:r>
            <a:r>
              <a:rPr lang="en-IN" sz="1400" b="0" i="0" u="none" strike="noStrike" baseline="0" dirty="0">
                <a:latin typeface="NimbusRomNo9L-Regu"/>
              </a:rPr>
              <a:t> and A. </a:t>
            </a:r>
            <a:r>
              <a:rPr lang="en-IN" sz="1400" b="0" i="0" u="none" strike="noStrike" baseline="0" dirty="0" err="1">
                <a:latin typeface="NimbusRomNo9L-Regu"/>
              </a:rPr>
              <a:t>Dengel</a:t>
            </a:r>
            <a:r>
              <a:rPr lang="en-IN" sz="1400" b="0" i="0" u="none" strike="noStrike" baseline="0" dirty="0">
                <a:latin typeface="NimbusRomNo9L-Regu"/>
              </a:rPr>
              <a:t>, ”</a:t>
            </a:r>
            <a:r>
              <a:rPr lang="en-IN" sz="1400" b="0" i="0" u="none" strike="noStrike" baseline="0" dirty="0" err="1">
                <a:latin typeface="NimbusRomNo9L-Regu"/>
              </a:rPr>
              <a:t>ESResNet</a:t>
            </a:r>
            <a:r>
              <a:rPr lang="en-IN" sz="1400" b="0" i="0" u="none" strike="noStrike" baseline="0" dirty="0">
                <a:latin typeface="NimbusRomNo9L-Regu"/>
              </a:rPr>
              <a:t>: Environmental </a:t>
            </a:r>
            <a:r>
              <a:rPr lang="en-US" sz="1400" b="0" i="0" u="none" strike="noStrike" baseline="0" dirty="0">
                <a:latin typeface="NimbusRomNo9L-Regu"/>
              </a:rPr>
              <a:t>Sound Classification Based on Visual Domain Models,” 2020 25</a:t>
            </a:r>
            <a:r>
              <a:rPr lang="en-US" sz="1400" b="0" i="0" u="none" strike="noStrike" baseline="30000" dirty="0">
                <a:latin typeface="NimbusRomNo9L-Regu"/>
              </a:rPr>
              <a:t>th</a:t>
            </a:r>
            <a:r>
              <a:rPr lang="en-US" sz="1400" b="0" i="0" u="none" strike="noStrike" baseline="0" dirty="0">
                <a:latin typeface="NimbusRomNo9L-Regu"/>
              </a:rPr>
              <a:t> </a:t>
            </a:r>
            <a:r>
              <a:rPr lang="en-IN" sz="1400" b="0" i="0" u="none" strike="noStrike" baseline="0" dirty="0">
                <a:latin typeface="NimbusRomNo9L-Regu"/>
              </a:rPr>
              <a:t>International Conference on Pattern Recognition (ICPR), Milan, Italy, 2021, pp. 4933-4940, doi:10.1109/ICPR48806.2021.9413035.</a:t>
            </a:r>
          </a:p>
          <a:p>
            <a:pPr marL="342900" indent="-342900" algn="l">
              <a:buFont typeface="+mj-lt"/>
              <a:buAutoNum type="arabicPeriod" startAt="7"/>
            </a:pPr>
            <a:endParaRPr lang="en-US" sz="1400" b="0" i="0" u="none" strike="noStrike" baseline="0" dirty="0">
              <a:latin typeface="NimbusRomNo9L-Regu"/>
            </a:endParaRPr>
          </a:p>
          <a:p>
            <a:pPr marL="342900" indent="-342900" algn="l">
              <a:buFont typeface="+mj-lt"/>
              <a:buAutoNum type="arabicPeriod" startAt="7"/>
            </a:pPr>
            <a:r>
              <a:rPr lang="en-US" sz="1400" b="0" i="0" u="none" strike="noStrike" baseline="0" dirty="0">
                <a:latin typeface="NimbusRomNo9L-Regu"/>
              </a:rPr>
              <a:t>X. Liu, H. Lu, J. Yuan, and X. Li, ”CAT: Causal Audio</a:t>
            </a:r>
            <a:r>
              <a:rPr lang="en-US" dirty="0">
                <a:latin typeface="NimbusRomNo9L-Regu"/>
              </a:rPr>
              <a:t> </a:t>
            </a:r>
            <a:r>
              <a:rPr lang="en-IN" sz="1400" b="0" i="0" u="none" strike="noStrike" baseline="0" dirty="0">
                <a:latin typeface="NimbusRomNo9L-Regu"/>
              </a:rPr>
              <a:t>Transformer for Audio Classification,” ICASSP 2023 – 2023 </a:t>
            </a:r>
            <a:r>
              <a:rPr lang="en-US" sz="1400" b="0" i="0" u="none" strike="noStrike" baseline="0" dirty="0">
                <a:latin typeface="NimbusRomNo9L-Regu"/>
              </a:rPr>
              <a:t>IEEE International Conference on Acoustics, Speech and Signal Processing (ICASSP), Rhodes Island, Greece, 2023, pp. 1-5, </a:t>
            </a:r>
            <a:r>
              <a:rPr lang="en-IN" sz="1400" b="0" i="0" u="none" strike="noStrike" baseline="0" dirty="0">
                <a:latin typeface="NimbusRomNo9L-Regu"/>
              </a:rPr>
              <a:t>doi:10.1109/ICASSP49357.2023.10096787.</a:t>
            </a:r>
          </a:p>
          <a:p>
            <a:pPr marL="342900" indent="-342900" algn="l">
              <a:buFont typeface="+mj-lt"/>
              <a:buAutoNum type="arabicPeriod" startAt="7"/>
            </a:pPr>
            <a:endParaRPr lang="it-IT" sz="1400" b="0" i="0" u="none" strike="noStrike" baseline="0" dirty="0">
              <a:latin typeface="NimbusRomNo9L-Regu"/>
            </a:endParaRPr>
          </a:p>
          <a:p>
            <a:pPr marL="342900" indent="-342900" algn="l">
              <a:buFont typeface="+mj-lt"/>
              <a:buAutoNum type="arabicPeriod" startAt="7"/>
            </a:pPr>
            <a:r>
              <a:rPr lang="it-IT" sz="1400" b="0" i="0" u="none" strike="noStrike" baseline="0" dirty="0">
                <a:latin typeface="NimbusRomNo9L-Regu"/>
              </a:rPr>
              <a:t>Y. Xiao, Y. Ma, S. Li, H. Zhou, R. Liao and X. Li, ”SemanticAC: </a:t>
            </a:r>
            <a:r>
              <a:rPr lang="en-US" sz="1400" b="0" i="0" u="none" strike="noStrike" baseline="0" dirty="0">
                <a:latin typeface="NimbusRomNo9L-Regu"/>
              </a:rPr>
              <a:t>Semantics-Assisted Framework for Audio Classification,” ICASSP 2023 - 2023 IEEE International Conference on Acoustics, Speech and Signal Processing (ICASSP), Rhodes Island, Greece,</a:t>
            </a:r>
          </a:p>
          <a:p>
            <a:pPr marL="342900" indent="-342900" algn="l">
              <a:buFont typeface="+mj-lt"/>
              <a:buAutoNum type="arabicPeriod" startAt="7"/>
            </a:pPr>
            <a:endParaRPr lang="en-US" dirty="0">
              <a:latin typeface="NimbusRomNo9L-Regu"/>
            </a:endParaRPr>
          </a:p>
          <a:p>
            <a:pPr marL="342900" indent="-342900" algn="l">
              <a:buFont typeface="+mj-lt"/>
              <a:buAutoNum type="arabicPeriod" startAt="7"/>
            </a:pPr>
            <a:r>
              <a:rPr lang="en-IN" b="0" i="0" u="none" strike="noStrike" baseline="0" dirty="0">
                <a:latin typeface="NimbusRomNo9L-Regu"/>
              </a:rPr>
              <a:t> </a:t>
            </a:r>
            <a:r>
              <a:rPr lang="en-IN" b="0" i="0" u="none" strike="noStrike" baseline="0" dirty="0" err="1">
                <a:latin typeface="NimbusRomNo9L-Regu"/>
              </a:rPr>
              <a:t>Nasef</a:t>
            </a:r>
            <a:r>
              <a:rPr lang="en-IN" b="0" i="0" u="none" strike="noStrike" baseline="0" dirty="0">
                <a:latin typeface="NimbusRomNo9L-Regu"/>
              </a:rPr>
              <a:t>, M.M., Nabil, M.M. &amp; Sauber, A.M. Multiclass environmental </a:t>
            </a:r>
            <a:r>
              <a:rPr lang="en-US" b="0" i="0" u="none" strike="noStrike" baseline="0" dirty="0">
                <a:latin typeface="NimbusRomNo9L-Regu"/>
              </a:rPr>
              <a:t>sound classification model based on adding residual connections to self-attention layers. </a:t>
            </a:r>
            <a:r>
              <a:rPr lang="en-US" b="0" i="0" u="none" strike="noStrike" baseline="0" dirty="0" err="1">
                <a:latin typeface="NimbusRomNo9L-Regu"/>
              </a:rPr>
              <a:t>Multimed</a:t>
            </a:r>
            <a:r>
              <a:rPr lang="en-US" b="0" i="0" u="none" strike="noStrike" baseline="0" dirty="0">
                <a:latin typeface="NimbusRomNo9L-Regu"/>
              </a:rPr>
              <a:t> Tools Appl 83, 71359–71377 (2024). </a:t>
            </a:r>
            <a:r>
              <a:rPr lang="en-IN" b="0" i="0" u="none" strike="noStrike" baseline="0" dirty="0">
                <a:latin typeface="NimbusRomNo9L-Regu"/>
                <a:hlinkClick r:id="rId3"/>
              </a:rPr>
              <a:t>https://doi.org/10.1007/s11042-024-18421-7</a:t>
            </a:r>
            <a:endParaRPr lang="en-IN" b="0" i="0" u="none" strike="noStrike" baseline="0" dirty="0">
              <a:latin typeface="NimbusRomNo9L-Regu"/>
            </a:endParaRPr>
          </a:p>
          <a:p>
            <a:pPr marL="342900" indent="-342900" algn="l">
              <a:buFont typeface="+mj-lt"/>
              <a:buAutoNum type="arabicPeriod" startAt="7"/>
            </a:pPr>
            <a:endParaRPr lang="en-IN" b="0" i="0" u="none" strike="noStrike" baseline="0" dirty="0">
              <a:latin typeface="NimbusRomNo9L-Regu"/>
            </a:endParaRPr>
          </a:p>
        </p:txBody>
      </p:sp>
    </p:spTree>
    <p:extLst>
      <p:ext uri="{BB962C8B-B14F-4D97-AF65-F5344CB8AC3E}">
        <p14:creationId xmlns:p14="http://schemas.microsoft.com/office/powerpoint/2010/main" val="2704720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414ABB-A742-337C-440C-3AF5B0A8ABF2}"/>
              </a:ext>
            </a:extLst>
          </p:cNvPr>
          <p:cNvSpPr txBox="1"/>
          <p:nvPr/>
        </p:nvSpPr>
        <p:spPr>
          <a:xfrm>
            <a:off x="307729" y="353371"/>
            <a:ext cx="8168056" cy="4401205"/>
          </a:xfrm>
          <a:prstGeom prst="rect">
            <a:avLst/>
          </a:prstGeom>
          <a:noFill/>
        </p:spPr>
        <p:txBody>
          <a:bodyPr wrap="square">
            <a:spAutoFit/>
          </a:bodyPr>
          <a:lstStyle/>
          <a:p>
            <a:pPr marL="342900" indent="-342900" algn="l">
              <a:buFont typeface="+mj-lt"/>
              <a:buAutoNum type="arabicPeriod" startAt="12"/>
            </a:pPr>
            <a:r>
              <a:rPr lang="en-US" b="0" i="0" u="none" strike="noStrike" baseline="0" dirty="0">
                <a:latin typeface="NimbusRomNo9L-Regu"/>
              </a:rPr>
              <a:t>Yuan Gong, Yu-An Chung, and James Glass, “</a:t>
            </a:r>
            <a:r>
              <a:rPr lang="en-US" b="0" i="0" u="none" strike="noStrike" baseline="0" dirty="0" err="1">
                <a:latin typeface="NimbusRomNo9L-Regu"/>
              </a:rPr>
              <a:t>Ast</a:t>
            </a:r>
            <a:r>
              <a:rPr lang="en-US" b="0" i="0" u="none" strike="noStrike" baseline="0" dirty="0">
                <a:latin typeface="NimbusRomNo9L-Regu"/>
              </a:rPr>
              <a:t>: Audio spectrogram </a:t>
            </a:r>
            <a:r>
              <a:rPr lang="en-IN" b="0" i="0" u="none" strike="noStrike" baseline="0" dirty="0">
                <a:latin typeface="NimbusRomNo9L-Regu"/>
              </a:rPr>
              <a:t>transformer,” </a:t>
            </a:r>
            <a:r>
              <a:rPr lang="en-IN" b="0" i="0" u="none" strike="noStrike" baseline="0" dirty="0" err="1">
                <a:latin typeface="NimbusRomNo9L-Regu"/>
              </a:rPr>
              <a:t>arXiv</a:t>
            </a:r>
            <a:r>
              <a:rPr lang="en-IN" b="0" i="0" u="none" strike="noStrike" baseline="0" dirty="0">
                <a:latin typeface="NimbusRomNo9L-Regu"/>
              </a:rPr>
              <a:t> preprint arXiv:2104.01778, 2021.</a:t>
            </a:r>
          </a:p>
          <a:p>
            <a:pPr marL="342900" indent="-342900" algn="l">
              <a:buFont typeface="+mj-lt"/>
              <a:buAutoNum type="arabicPeriod" startAt="12"/>
            </a:pPr>
            <a:endParaRPr lang="en-IN" b="0" i="0" u="none" strike="noStrike" baseline="0" dirty="0">
              <a:latin typeface="NimbusRomNo9L-Regu"/>
            </a:endParaRPr>
          </a:p>
          <a:p>
            <a:pPr marL="342900" indent="-342900" algn="l">
              <a:buFont typeface="+mj-lt"/>
              <a:buAutoNum type="arabicPeriod" startAt="12"/>
            </a:pPr>
            <a:r>
              <a:rPr lang="en-IN" b="0" i="0" u="none" strike="noStrike" baseline="0" dirty="0">
                <a:latin typeface="NimbusRomNo9L-Regu"/>
              </a:rPr>
              <a:t> A. </a:t>
            </a:r>
            <a:r>
              <a:rPr lang="en-IN" b="0" i="0" u="none" strike="noStrike" baseline="0" dirty="0" err="1">
                <a:latin typeface="NimbusRomNo9L-Regu"/>
              </a:rPr>
              <a:t>Dosovitskiy</a:t>
            </a:r>
            <a:r>
              <a:rPr lang="en-IN" b="0" i="0" u="none" strike="noStrike" baseline="0" dirty="0">
                <a:latin typeface="NimbusRomNo9L-Regu"/>
              </a:rPr>
              <a:t>, L. Beyer, A. Kolesnikov, D. </a:t>
            </a:r>
            <a:r>
              <a:rPr lang="en-IN" b="0" i="0" u="none" strike="noStrike" baseline="0" dirty="0" err="1">
                <a:latin typeface="NimbusRomNo9L-Regu"/>
              </a:rPr>
              <a:t>Weissenborn</a:t>
            </a:r>
            <a:r>
              <a:rPr lang="en-IN" b="0" i="0" u="none" strike="noStrike" baseline="0" dirty="0">
                <a:latin typeface="NimbusRomNo9L-Regu"/>
              </a:rPr>
              <a:t>, X. Zhai, </a:t>
            </a:r>
            <a:r>
              <a:rPr lang="de-DE" b="0" i="0" u="none" strike="noStrike" baseline="0" dirty="0">
                <a:latin typeface="NimbusRomNo9L-Regu"/>
              </a:rPr>
              <a:t>T. Unterthiner, M. Dehghani, M. Minderer, G. Heigold, S. Gelly, </a:t>
            </a:r>
            <a:r>
              <a:rPr lang="en-US" b="0" i="0" u="none" strike="noStrike" baseline="0" dirty="0">
                <a:latin typeface="NimbusRomNo9L-Regu"/>
              </a:rPr>
              <a:t>J. </a:t>
            </a:r>
            <a:r>
              <a:rPr lang="en-US" b="0" i="0" u="none" strike="noStrike" baseline="0" dirty="0" err="1">
                <a:latin typeface="NimbusRomNo9L-Regu"/>
              </a:rPr>
              <a:t>Uszkoreit</a:t>
            </a:r>
            <a:r>
              <a:rPr lang="en-US" b="0" i="0" u="none" strike="noStrike" baseline="0" dirty="0">
                <a:latin typeface="NimbusRomNo9L-Regu"/>
              </a:rPr>
              <a:t>, and N. </a:t>
            </a:r>
            <a:r>
              <a:rPr lang="en-US" b="0" i="0" u="none" strike="noStrike" baseline="0" dirty="0" err="1">
                <a:latin typeface="NimbusRomNo9L-Regu"/>
              </a:rPr>
              <a:t>Houlsby</a:t>
            </a:r>
            <a:r>
              <a:rPr lang="en-US" b="0" i="0" u="none" strike="noStrike" baseline="0" dirty="0">
                <a:latin typeface="NimbusRomNo9L-Regu"/>
              </a:rPr>
              <a:t>, “An image is worth 16x16 words: Transformers for image recognition at scale,” in ICLR, 2021.</a:t>
            </a:r>
          </a:p>
          <a:p>
            <a:pPr marL="342900" indent="-342900" algn="l">
              <a:buFont typeface="+mj-lt"/>
              <a:buAutoNum type="arabicPeriod" startAt="12"/>
            </a:pPr>
            <a:endParaRPr lang="en-US" b="0" i="0" u="none" strike="noStrike" baseline="0" dirty="0">
              <a:latin typeface="NimbusRomNo9L-Regu"/>
            </a:endParaRPr>
          </a:p>
          <a:p>
            <a:pPr marL="342900" indent="-342900" algn="l">
              <a:buFont typeface="+mj-lt"/>
              <a:buAutoNum type="arabicPeriod" startAt="12"/>
            </a:pPr>
            <a:r>
              <a:rPr lang="en-IN" b="0" i="0" u="none" strike="noStrike" baseline="0" dirty="0">
                <a:latin typeface="NimbusRomNo9L-Regu"/>
                <a:hlinkClick r:id="rId2"/>
              </a:rPr>
              <a:t>https://huggingface.co/MIT/ast-finetuned-audioset-10-10-0.4593</a:t>
            </a:r>
            <a:endParaRPr lang="en-IN" b="0" i="0" u="none" strike="noStrike" baseline="0" dirty="0">
              <a:latin typeface="NimbusRomNo9L-Regu"/>
            </a:endParaRPr>
          </a:p>
          <a:p>
            <a:pPr marL="342900" indent="-342900" algn="l">
              <a:buFont typeface="+mj-lt"/>
              <a:buAutoNum type="arabicPeriod" startAt="12"/>
            </a:pPr>
            <a:endParaRPr lang="en-IN" b="0" i="0" u="none" strike="noStrike" baseline="0" dirty="0">
              <a:latin typeface="NimbusRomNo9L-Regu"/>
            </a:endParaRPr>
          </a:p>
          <a:p>
            <a:pPr marL="342900" indent="-342900" algn="l">
              <a:buFont typeface="+mj-lt"/>
              <a:buAutoNum type="arabicPeriod" startAt="12"/>
            </a:pPr>
            <a:r>
              <a:rPr lang="en-IN" b="0" i="0" u="none" strike="noStrike" baseline="0" dirty="0">
                <a:latin typeface="NimbusRomNo9L-Regu"/>
              </a:rPr>
              <a:t>Karol J. </a:t>
            </a:r>
            <a:r>
              <a:rPr lang="en-IN" b="0" i="0" u="none" strike="noStrike" baseline="0" dirty="0" err="1">
                <a:latin typeface="NimbusRomNo9L-Regu"/>
              </a:rPr>
              <a:t>Piczak</a:t>
            </a:r>
            <a:r>
              <a:rPr lang="en-IN" b="0" i="0" u="none" strike="noStrike" baseline="0" dirty="0">
                <a:latin typeface="NimbusRomNo9L-Regu"/>
              </a:rPr>
              <a:t>. 2015. ESC: Dataset for Environmental Sound </a:t>
            </a:r>
            <a:r>
              <a:rPr lang="en-US" b="0" i="0" u="none" strike="noStrike" baseline="0" dirty="0">
                <a:latin typeface="NimbusRomNo9L-Regu"/>
              </a:rPr>
              <a:t>Classification. In Proceedings of the 23rd ACM international conference on Multimedia (MM ’15). Association for Computing Machinery, New </a:t>
            </a:r>
            <a:r>
              <a:rPr lang="en-IN" b="0" i="0" u="none" strike="noStrike" baseline="0" dirty="0">
                <a:latin typeface="NimbusRomNo9L-Regu"/>
              </a:rPr>
              <a:t>York, NY, USA, 1015–1018. </a:t>
            </a:r>
            <a:r>
              <a:rPr lang="en-IN" b="0" i="0" u="none" strike="noStrike" baseline="0" dirty="0">
                <a:latin typeface="NimbusRomNo9L-Regu"/>
                <a:hlinkClick r:id="rId3"/>
              </a:rPr>
              <a:t>https://doi.org/10.1145/2733373.2806390</a:t>
            </a:r>
            <a:endParaRPr lang="en-IN" b="0" i="0" u="none" strike="noStrike" baseline="0" dirty="0">
              <a:latin typeface="NimbusRomNo9L-Regu"/>
            </a:endParaRPr>
          </a:p>
          <a:p>
            <a:pPr marL="342900" indent="-342900" algn="l">
              <a:buFont typeface="+mj-lt"/>
              <a:buAutoNum type="arabicPeriod" startAt="12"/>
            </a:pPr>
            <a:endParaRPr lang="en-IN" b="0" i="0" u="none" strike="noStrike" baseline="0" dirty="0">
              <a:latin typeface="NimbusRomNo9L-Regu"/>
            </a:endParaRPr>
          </a:p>
          <a:p>
            <a:pPr marL="342900" indent="-342900" algn="l">
              <a:buFont typeface="+mj-lt"/>
              <a:buAutoNum type="arabicPeriod" startAt="12"/>
            </a:pPr>
            <a:r>
              <a:rPr lang="en-US" b="0" i="0" u="none" strike="noStrike" baseline="0" dirty="0">
                <a:latin typeface="NimbusRomNo9L-Regu"/>
              </a:rPr>
              <a:t>Justin </a:t>
            </a:r>
            <a:r>
              <a:rPr lang="en-US" b="0" i="0" u="none" strike="noStrike" baseline="0" dirty="0" err="1">
                <a:latin typeface="NimbusRomNo9L-Regu"/>
              </a:rPr>
              <a:t>Salamon</a:t>
            </a:r>
            <a:r>
              <a:rPr lang="en-US" b="0" i="0" u="none" strike="noStrike" baseline="0" dirty="0">
                <a:latin typeface="NimbusRomNo9L-Regu"/>
              </a:rPr>
              <a:t>, Christopher Jacoby, and Juan Pablo Bello. 2014. A Dataset and Taxonomy for Urban Sound Research. In Proceedings of the 22nd ACM international conference on Multimedia (MM ’14). Association for Computing Machinery, New York, NY, USA, </a:t>
            </a:r>
            <a:r>
              <a:rPr lang="en-IN" b="0" i="0" u="none" strike="noStrike" baseline="0" dirty="0">
                <a:latin typeface="NimbusRomNo9L-Regu"/>
              </a:rPr>
              <a:t>1041–1044. </a:t>
            </a:r>
            <a:r>
              <a:rPr lang="en-IN" b="0" i="0" u="none" strike="noStrike" baseline="0" dirty="0">
                <a:latin typeface="NimbusRomNo9L-Regu"/>
                <a:hlinkClick r:id="rId4"/>
              </a:rPr>
              <a:t>https://doi.org/10.1145/2647868.2655045</a:t>
            </a:r>
            <a:endParaRPr lang="en-IN" b="0" i="0" u="none" strike="noStrike" baseline="0" dirty="0">
              <a:latin typeface="NimbusRomNo9L-Regu"/>
            </a:endParaRPr>
          </a:p>
          <a:p>
            <a:pPr marL="342900" indent="-342900" algn="l">
              <a:buFont typeface="+mj-lt"/>
              <a:buAutoNum type="arabicPeriod" startAt="12"/>
            </a:pPr>
            <a:endParaRPr lang="en-IN" b="0" i="0" u="none" strike="noStrike" baseline="0" dirty="0">
              <a:latin typeface="NimbusRomNo9L-Regu"/>
            </a:endParaRPr>
          </a:p>
          <a:p>
            <a:pPr marL="342900" indent="-342900" algn="l">
              <a:buFont typeface="+mj-lt"/>
              <a:buAutoNum type="arabicPeriod" startAt="12"/>
            </a:pPr>
            <a:r>
              <a:rPr lang="en-IN" b="0" i="0" u="none" strike="noStrike" baseline="0" dirty="0">
                <a:latin typeface="NimbusRomNo9L-Regu"/>
              </a:rPr>
              <a:t>O¨ </a:t>
            </a:r>
            <a:r>
              <a:rPr lang="en-IN" b="0" i="0" u="none" strike="noStrike" baseline="0" dirty="0" err="1">
                <a:latin typeface="NimbusRomNo9L-Regu"/>
              </a:rPr>
              <a:t>zkan</a:t>
            </a:r>
            <a:r>
              <a:rPr lang="en-IN" b="0" i="0" u="none" strike="noStrike" baseline="0" dirty="0">
                <a:latin typeface="NimbusRomNo9L-Regu"/>
              </a:rPr>
              <a:t> </a:t>
            </a:r>
            <a:r>
              <a:rPr lang="en-IN" b="0" i="0" u="none" strike="noStrike" baseline="0" dirty="0" err="1">
                <a:latin typeface="NimbusRomNo9L-Regu"/>
              </a:rPr>
              <a:t>I˙nik</a:t>
            </a:r>
            <a:r>
              <a:rPr lang="en-IN" b="0" i="0" u="none" strike="noStrike" baseline="0" dirty="0">
                <a:latin typeface="NimbusRomNo9L-Regu"/>
              </a:rPr>
              <a:t>, CNN hyper-parameter optimization for environmental </a:t>
            </a:r>
            <a:r>
              <a:rPr lang="en-US" b="0" i="0" u="none" strike="noStrike" baseline="0" dirty="0">
                <a:latin typeface="NimbusRomNo9L-Regu"/>
              </a:rPr>
              <a:t>sound classification, Applied Acoustics, Volume 202, 2023, 109168, ISSN 0003-682X, https://doi.org/10.1016/j.apacoust.2022.109168.</a:t>
            </a:r>
            <a:endParaRPr lang="en-US" sz="1100" dirty="0">
              <a:latin typeface="NimbusRomNo9L-Regu"/>
            </a:endParaRPr>
          </a:p>
        </p:txBody>
      </p:sp>
    </p:spTree>
    <p:extLst>
      <p:ext uri="{BB962C8B-B14F-4D97-AF65-F5344CB8AC3E}">
        <p14:creationId xmlns:p14="http://schemas.microsoft.com/office/powerpoint/2010/main" val="2683726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2740175" y="1870600"/>
            <a:ext cx="3248700" cy="83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4820" dirty="0">
                <a:solidFill>
                  <a:schemeClr val="tx1"/>
                </a:solidFill>
              </a:rPr>
              <a:t>Thank You</a:t>
            </a:r>
            <a:endParaRPr sz="4820" dirty="0">
              <a:solidFill>
                <a:schemeClr val="tx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2310</Words>
  <Application>Microsoft Office PowerPoint</Application>
  <PresentationFormat>On-screen Show (16:9)</PresentationFormat>
  <Paragraphs>163</Paragraphs>
  <Slides>21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Times New Roman</vt:lpstr>
      <vt:lpstr>Cambria Math</vt:lpstr>
      <vt:lpstr>Arial</vt:lpstr>
      <vt:lpstr>Calibri</vt:lpstr>
      <vt:lpstr>Roboto</vt:lpstr>
      <vt:lpstr>NimbusRomNo9L-Regu</vt:lpstr>
      <vt:lpstr>Simple Light</vt:lpstr>
      <vt:lpstr>PowerPoint Presentation</vt:lpstr>
      <vt:lpstr>ABSTRACT</vt:lpstr>
      <vt:lpstr>PowerPoint Presentation</vt:lpstr>
      <vt:lpstr>PowerPoint Presentation</vt:lpstr>
      <vt:lpstr>PowerPoint Presentation</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Mohith</dc:creator>
  <cp:lastModifiedBy>mohith daruru</cp:lastModifiedBy>
  <cp:revision>14</cp:revision>
  <dcterms:modified xsi:type="dcterms:W3CDTF">2025-01-08T12:17:26Z</dcterms:modified>
</cp:coreProperties>
</file>